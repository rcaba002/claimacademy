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50265" autoAdjust="0"/>
  </p:normalViewPr>
  <p:slideViewPr>
    <p:cSldViewPr snapToGrid="0">
      <p:cViewPr varScale="1">
        <p:scale>
          <a:sx n="39" d="100"/>
          <a:sy n="39" d="100"/>
        </p:scale>
        <p:origin x="1686" y="24"/>
      </p:cViewPr>
      <p:guideLst/>
    </p:cSldViewPr>
  </p:slideViewPr>
  <p:outlineViewPr>
    <p:cViewPr>
      <p:scale>
        <a:sx n="33" d="100"/>
        <a:sy n="33" d="100"/>
      </p:scale>
      <p:origin x="0" y="0"/>
    </p:cViewPr>
  </p:outlineViewPr>
  <p:notesTextViewPr>
    <p:cViewPr>
      <p:scale>
        <a:sx n="3" d="2"/>
        <a:sy n="3" d="2"/>
      </p:scale>
      <p:origin x="0" y="-972"/>
    </p:cViewPr>
  </p:notesTextViewPr>
  <p:sorterViewPr>
    <p:cViewPr>
      <p:scale>
        <a:sx n="100" d="100"/>
        <a:sy n="100" d="100"/>
      </p:scale>
      <p:origin x="0" y="0"/>
    </p:cViewPr>
  </p:sorterViewPr>
  <p:notesViewPr>
    <p:cSldViewPr snapToGrid="0">
      <p:cViewPr varScale="1">
        <p:scale>
          <a:sx n="58" d="100"/>
          <a:sy n="58" d="100"/>
        </p:scale>
        <p:origin x="735" y="45"/>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780E91-7E5B-4496-AB77-9D5BA10C5E83}" type="datetimeFigureOut">
              <a:rPr lang="en-US" smtClean="0"/>
              <a:t>1/14/2016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C2BECD-94F6-4B6C-BEEC-DD1D48975E94}" type="slidenum">
              <a:rPr lang="en-US" smtClean="0"/>
              <a:t>‹#›</a:t>
            </a:fld>
            <a:endParaRPr lang="en-US"/>
          </a:p>
        </p:txBody>
      </p:sp>
    </p:spTree>
    <p:extLst>
      <p:ext uri="{BB962C8B-B14F-4D97-AF65-F5344CB8AC3E}">
        <p14:creationId xmlns:p14="http://schemas.microsoft.com/office/powerpoint/2010/main" val="503047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smtClean="0"/>
              <a:t>Today dig deeper into the code we wrote to make sure we understand HTML and CSS we are writing</a:t>
            </a:r>
          </a:p>
          <a:p>
            <a:pPr marL="171450" indent="-171450">
              <a:buFontTx/>
              <a:buChar char="-"/>
            </a:pPr>
            <a:r>
              <a:rPr lang="en-US" baseline="0" dirty="0" smtClean="0"/>
              <a:t>First, download Sublime Text</a:t>
            </a:r>
          </a:p>
          <a:p>
            <a:pPr marL="171450" indent="-171450">
              <a:buFontTx/>
              <a:buChar char="-"/>
            </a:pPr>
            <a:r>
              <a:rPr lang="en-US" baseline="0" dirty="0" smtClean="0"/>
              <a:t>Go to my </a:t>
            </a:r>
            <a:r>
              <a:rPr lang="en-US" baseline="0" dirty="0" err="1" smtClean="0"/>
              <a:t>Github</a:t>
            </a:r>
            <a:r>
              <a:rPr lang="en-US" baseline="0" dirty="0" smtClean="0"/>
              <a:t> account (</a:t>
            </a:r>
            <a:r>
              <a:rPr lang="en-US" baseline="0" dirty="0" err="1" smtClean="0"/>
              <a:t>github.rom</a:t>
            </a:r>
            <a:r>
              <a:rPr lang="en-US" baseline="0" dirty="0" smtClean="0"/>
              <a:t>/rcaba002) and copy and past HTML and CSS docs</a:t>
            </a:r>
          </a:p>
          <a:p>
            <a:pPr marL="171450" indent="-171450">
              <a:buFontTx/>
              <a:buChar char="-"/>
            </a:pPr>
            <a:r>
              <a:rPr lang="en-US" baseline="0" dirty="0" smtClean="0"/>
              <a:t>(open file in Sublime)</a:t>
            </a:r>
          </a:p>
          <a:p>
            <a:pPr marL="171450" indent="-171450">
              <a:buFontTx/>
              <a:buChar char="-"/>
            </a:pPr>
            <a:r>
              <a:rPr lang="en-US" baseline="0" dirty="0" smtClean="0"/>
              <a:t>Tuesday we worked together to add HTML5 tags to an existing document in order to give it structure. Then we applied styles to our HTML5 document using cascading style sheets</a:t>
            </a:r>
          </a:p>
          <a:p>
            <a:pPr marL="171450" indent="-171450">
              <a:buFontTx/>
              <a:buChar char="-"/>
            </a:pPr>
            <a:r>
              <a:rPr lang="en-US" baseline="0" dirty="0" smtClean="0"/>
              <a:t>So right now, hopefully you have a clear understanding of the differences between HTML5 and CSS</a:t>
            </a:r>
          </a:p>
          <a:p>
            <a:pPr marL="171450" indent="-171450">
              <a:buFontTx/>
              <a:buChar char="-"/>
            </a:pPr>
            <a:r>
              <a:rPr lang="en-US" baseline="0" dirty="0" smtClean="0"/>
              <a:t>HTML is for structuring the content and CSS is for style</a:t>
            </a:r>
          </a:p>
          <a:p>
            <a:pPr marL="171450" indent="-171450">
              <a:buFontTx/>
              <a:buChar char="-"/>
            </a:pPr>
            <a:r>
              <a:rPr lang="en-US" baseline="0" dirty="0" smtClean="0"/>
              <a:t>There are so big benefits to keeping them separate.</a:t>
            </a:r>
          </a:p>
          <a:p>
            <a:pPr marL="628650" lvl="1" indent="-171450">
              <a:buFontTx/>
              <a:buChar char="-"/>
            </a:pPr>
            <a:r>
              <a:rPr lang="en-US" baseline="0" dirty="0" smtClean="0"/>
              <a:t>You can apply those styles on other pages or even other websites</a:t>
            </a:r>
          </a:p>
          <a:p>
            <a:pPr marL="628650" lvl="1" indent="-171450">
              <a:buFontTx/>
              <a:buChar char="-"/>
            </a:pPr>
            <a:r>
              <a:rPr lang="en-US" baseline="0" dirty="0" smtClean="0"/>
              <a:t>You could mix the styling info directly in with the HTML and you’ll see a lot of pages on the internet that do this but you’ll learn as you begin developing your own websites that it makes it difficult to reuse those styles in the future</a:t>
            </a:r>
          </a:p>
          <a:p>
            <a:pPr marL="171450" lvl="0" indent="-171450">
              <a:buFontTx/>
              <a:buChar char="-"/>
            </a:pPr>
            <a:r>
              <a:rPr lang="en-US" baseline="0" dirty="0" smtClean="0"/>
              <a:t>So get into the HTML page we created. I’ll start from the top and work my way down.</a:t>
            </a:r>
          </a:p>
          <a:p>
            <a:pPr marL="171450" lvl="0" indent="-171450">
              <a:buFontTx/>
              <a:buChar char="-"/>
            </a:pPr>
            <a:r>
              <a:rPr lang="en-US" baseline="0" dirty="0" smtClean="0"/>
              <a:t>DOCTYPE: What is it doing?</a:t>
            </a:r>
          </a:p>
          <a:p>
            <a:pPr marL="628650" lvl="1" indent="-171450">
              <a:buFontTx/>
              <a:buChar char="-"/>
            </a:pPr>
            <a:r>
              <a:rPr lang="en-US" baseline="0" dirty="0" smtClean="0"/>
              <a:t>It’s simply an instruction to the web browser (google or yahoo) explaining which set of rules it should use to interpret or rather parse this document</a:t>
            </a:r>
          </a:p>
          <a:p>
            <a:pPr marL="628650" lvl="1" indent="-171450">
              <a:buFontTx/>
              <a:buChar char="-"/>
            </a:pPr>
            <a:r>
              <a:rPr lang="en-US" baseline="0" dirty="0" smtClean="0"/>
              <a:t>Each version of HTML has a different set of rules</a:t>
            </a:r>
          </a:p>
          <a:p>
            <a:pPr marL="628650" lvl="1" indent="-171450">
              <a:buFontTx/>
              <a:buChar char="-"/>
            </a:pPr>
            <a:r>
              <a:rPr lang="en-US" baseline="0" dirty="0" smtClean="0"/>
              <a:t>For contrast sake, previous version of HTML &lt;!DOCTYPE html PUBLIC “-//W3C//DTD XHTML 1.0 Strict//EN” “http://www.w3.org/TR/xhtml1/DTD/xhtml1-strict.dtd”&gt;</a:t>
            </a:r>
          </a:p>
          <a:p>
            <a:pPr marL="628650" lvl="1" indent="-171450">
              <a:buFontTx/>
              <a:buChar char="-"/>
            </a:pPr>
            <a:r>
              <a:rPr lang="en-US" baseline="0" dirty="0" smtClean="0"/>
              <a:t>This is from XHTML 1.0 Strict essentially treated your webpage as an XHTML document. We do need to know what XHTML is. Web Developers are moving towards HTML5 and just know it’s a lot better</a:t>
            </a:r>
          </a:p>
          <a:p>
            <a:pPr marL="628650" lvl="1" indent="-171450">
              <a:buFontTx/>
              <a:buChar char="-"/>
            </a:pPr>
            <a:r>
              <a:rPr lang="en-US" baseline="0" dirty="0" smtClean="0"/>
              <a:t>So compared to XHTML, HTML5 is pretty laid back</a:t>
            </a:r>
          </a:p>
          <a:p>
            <a:pPr marL="628650" lvl="1" indent="-171450">
              <a:buFontTx/>
              <a:buChar char="-"/>
            </a:pPr>
            <a:r>
              <a:rPr lang="en-US" baseline="0" dirty="0" smtClean="0"/>
              <a:t>(show validator example)</a:t>
            </a:r>
          </a:p>
          <a:p>
            <a:pPr marL="628650" lvl="1" indent="-171450">
              <a:buFontTx/>
              <a:buChar char="-"/>
            </a:pPr>
            <a:r>
              <a:rPr lang="en-US" baseline="0" dirty="0" smtClean="0"/>
              <a:t>HTML is very forgiving. It was designed to NOT break the web</a:t>
            </a:r>
          </a:p>
          <a:p>
            <a:pPr marL="628650" lvl="1" indent="-171450">
              <a:buFontTx/>
              <a:buChar char="-"/>
            </a:pPr>
            <a:r>
              <a:rPr lang="en-US" baseline="0" dirty="0" smtClean="0"/>
              <a:t>It also accepts a lot of different syntax styles</a:t>
            </a:r>
          </a:p>
          <a:p>
            <a:pPr marL="628650" lvl="1" indent="-171450">
              <a:buFontTx/>
              <a:buChar char="-"/>
            </a:pPr>
            <a:r>
              <a:rPr lang="en-US" baseline="0" dirty="0" smtClean="0"/>
              <a:t>As an instructor I would say to you, find a syntax style that works for you and stick with it</a:t>
            </a:r>
          </a:p>
          <a:p>
            <a:pPr marL="628650" lvl="1" indent="-171450">
              <a:buFontTx/>
              <a:buChar char="-"/>
            </a:pPr>
            <a:r>
              <a:rPr lang="en-US" baseline="0" dirty="0" smtClean="0"/>
              <a:t>(show slide)</a:t>
            </a:r>
          </a:p>
        </p:txBody>
      </p:sp>
      <p:sp>
        <p:nvSpPr>
          <p:cNvPr id="4" name="Slide Number Placeholder 3"/>
          <p:cNvSpPr>
            <a:spLocks noGrp="1"/>
          </p:cNvSpPr>
          <p:nvPr>
            <p:ph type="sldNum" sz="quarter" idx="10"/>
          </p:nvPr>
        </p:nvSpPr>
        <p:spPr/>
        <p:txBody>
          <a:bodyPr/>
          <a:lstStyle/>
          <a:p>
            <a:fld id="{ECC2BECD-94F6-4B6C-BEEC-DD1D48975E94}" type="slidenum">
              <a:rPr lang="en-US" smtClean="0"/>
              <a:t>1</a:t>
            </a:fld>
            <a:endParaRPr lang="en-US"/>
          </a:p>
        </p:txBody>
      </p:sp>
    </p:spTree>
    <p:extLst>
      <p:ext uri="{BB962C8B-B14F-4D97-AF65-F5344CB8AC3E}">
        <p14:creationId xmlns:p14="http://schemas.microsoft.com/office/powerpoint/2010/main" val="1922627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baseline="0" dirty="0" smtClean="0"/>
          </a:p>
          <a:p>
            <a:pPr marL="171450" indent="-171450">
              <a:buFontTx/>
              <a:buChar char="-"/>
            </a:pPr>
            <a:r>
              <a:rPr lang="en-US" baseline="0" dirty="0" smtClean="0"/>
              <a:t>There are many different way to write HTML5 (explain)</a:t>
            </a:r>
          </a:p>
          <a:p>
            <a:pPr marL="171450" indent="-171450">
              <a:buFontTx/>
              <a:buChar char="-"/>
            </a:pPr>
            <a:r>
              <a:rPr lang="en-US" baseline="0" dirty="0" smtClean="0"/>
              <a:t>(go back to HTML document)</a:t>
            </a:r>
          </a:p>
          <a:p>
            <a:pPr marL="171450" indent="-171450">
              <a:buFontTx/>
              <a:buChar char="-"/>
            </a:pPr>
            <a:r>
              <a:rPr lang="en-US" baseline="0" dirty="0" smtClean="0"/>
              <a:t>So when we were declaring tags around our document we started off by declaring an &lt;html&gt; tag in the beginning and it’s closed at the very bottom</a:t>
            </a:r>
          </a:p>
          <a:p>
            <a:pPr marL="171450" indent="-171450">
              <a:buFontTx/>
              <a:buChar char="-"/>
            </a:pPr>
            <a:r>
              <a:rPr lang="en-US" baseline="0" dirty="0" smtClean="0"/>
              <a:t>Then inside of that there are two major sections</a:t>
            </a:r>
          </a:p>
          <a:p>
            <a:pPr marL="628650" lvl="1" indent="-171450">
              <a:buFontTx/>
              <a:buChar char="-"/>
            </a:pPr>
            <a:r>
              <a:rPr lang="en-US" baseline="0" dirty="0" smtClean="0"/>
              <a:t>&lt;head&gt; section and &lt;body&gt;</a:t>
            </a:r>
          </a:p>
          <a:p>
            <a:pPr marL="628650" lvl="1" indent="-171450">
              <a:buFontTx/>
              <a:buChar char="-"/>
            </a:pPr>
            <a:r>
              <a:rPr lang="en-US" baseline="0" dirty="0" smtClean="0"/>
              <a:t>These define the major boundaries of an HTML5 document</a:t>
            </a:r>
          </a:p>
          <a:p>
            <a:pPr marL="628650" lvl="1" indent="-171450">
              <a:buFontTx/>
              <a:buChar char="-"/>
            </a:pPr>
            <a:r>
              <a:rPr lang="en-US" baseline="0" dirty="0" smtClean="0"/>
              <a:t>We don’t need them in fact modern browsers will add them for you</a:t>
            </a:r>
          </a:p>
          <a:p>
            <a:pPr marL="628650" lvl="1" indent="-171450">
              <a:buFontTx/>
              <a:buChar char="-"/>
            </a:pPr>
            <a:r>
              <a:rPr lang="en-US" baseline="0" dirty="0" smtClean="0"/>
              <a:t>But just because we can leave them out doesn’t mean that we should</a:t>
            </a:r>
          </a:p>
          <a:p>
            <a:pPr marL="628650" lvl="1" indent="-171450">
              <a:buFontTx/>
              <a:buChar char="-"/>
            </a:pPr>
            <a:r>
              <a:rPr lang="en-US" baseline="0" dirty="0" smtClean="0"/>
              <a:t>HTML5 is still fairly new and we’re in a transitional period in web development. Not everyone is familiar with HTML5 so if others like in your office have to read your code and make changes to your code, this structure helps them identify areas of your code</a:t>
            </a:r>
          </a:p>
          <a:p>
            <a:pPr marL="628650" lvl="1" indent="-171450">
              <a:buFontTx/>
              <a:buChar char="-"/>
            </a:pPr>
            <a:r>
              <a:rPr lang="en-US" baseline="0" dirty="0" smtClean="0"/>
              <a:t>Also, there are some helpful attributes that we can be added to these tags to perform some helpful tasks</a:t>
            </a:r>
          </a:p>
          <a:p>
            <a:pPr marL="628650" lvl="1" indent="-171450">
              <a:buFontTx/>
              <a:buChar char="-"/>
            </a:pPr>
            <a:r>
              <a:rPr lang="en-US" baseline="0" dirty="0" smtClean="0"/>
              <a:t>For example we added a language attribute to our &lt;html&gt; tag</a:t>
            </a:r>
          </a:p>
          <a:p>
            <a:pPr marL="628650" lvl="1" indent="-171450">
              <a:buFontTx/>
              <a:buChar char="-"/>
            </a:pPr>
            <a:r>
              <a:rPr lang="en-US" baseline="0" dirty="0" smtClean="0"/>
              <a:t>It’s there to help search engines or other tools like speech synthesizers, spelling or grammar checkers, and helping a web browser choose the right font for certain languages.</a:t>
            </a:r>
          </a:p>
          <a:p>
            <a:pPr marL="628650" lvl="1" indent="-171450">
              <a:buFontTx/>
              <a:buChar char="-"/>
            </a:pPr>
            <a:r>
              <a:rPr lang="en-US" baseline="0" dirty="0" smtClean="0"/>
              <a:t>Do you </a:t>
            </a:r>
            <a:r>
              <a:rPr lang="en-US" baseline="0" dirty="0" err="1" smtClean="0"/>
              <a:t>hae</a:t>
            </a:r>
            <a:r>
              <a:rPr lang="en-US" baseline="0" dirty="0" smtClean="0"/>
              <a:t> to use it no, but its considered by most web developers as “good practice” so therefore to use it, we have to include the &lt;html&gt; tag in our webpage. So I recommend including &lt;html&gt; and &lt;body&gt; tags even though you and I know we don’t need to add them</a:t>
            </a:r>
          </a:p>
          <a:p>
            <a:pPr marL="171450" lvl="0" indent="-171450">
              <a:buFontTx/>
              <a:buChar char="-"/>
            </a:pPr>
            <a:r>
              <a:rPr lang="en-US" baseline="0" dirty="0" smtClean="0"/>
              <a:t>So an HTML document has two parts. A &lt;head&gt; and a &lt;body&gt;</a:t>
            </a:r>
          </a:p>
          <a:p>
            <a:pPr marL="628650" lvl="1" indent="-171450">
              <a:buFontTx/>
              <a:buChar char="-"/>
            </a:pPr>
            <a:r>
              <a:rPr lang="en-US" baseline="0" dirty="0" smtClean="0"/>
              <a:t>The &lt;head&gt; contains information about the body of the document</a:t>
            </a:r>
          </a:p>
          <a:p>
            <a:pPr marL="628650" lvl="1" indent="-171450">
              <a:buFontTx/>
              <a:buChar char="-"/>
            </a:pPr>
            <a:r>
              <a:rPr lang="en-US" baseline="0" dirty="0" smtClean="0"/>
              <a:t>The &lt;body&gt; contains the HTML that will be parsed and ultimately displayed on the web browser</a:t>
            </a:r>
          </a:p>
          <a:p>
            <a:pPr marL="628650" lvl="1" indent="-171450">
              <a:buFontTx/>
              <a:buChar char="-"/>
            </a:pPr>
            <a:r>
              <a:rPr lang="en-US" baseline="0" dirty="0" smtClean="0"/>
              <a:t>The &lt;head&gt; can contain a bunch of different things</a:t>
            </a:r>
          </a:p>
          <a:p>
            <a:pPr marL="628650" lvl="1" indent="-171450">
              <a:buFontTx/>
              <a:buChar char="-"/>
            </a:pPr>
            <a:r>
              <a:rPr lang="en-US" baseline="0" dirty="0" smtClean="0"/>
              <a:t>We see that it contains the &lt;title&gt; and a &lt;link&gt; to our style sheet</a:t>
            </a:r>
          </a:p>
          <a:p>
            <a:pPr marL="628650" lvl="1" indent="-171450">
              <a:buFontTx/>
              <a:buChar char="-"/>
            </a:pPr>
            <a:r>
              <a:rPr lang="en-US" baseline="0" dirty="0" smtClean="0"/>
              <a:t>But it can also contain a &lt;meta&gt; tag</a:t>
            </a:r>
          </a:p>
          <a:p>
            <a:pPr marL="628650" lvl="1" indent="-171450">
              <a:buFontTx/>
              <a:buChar char="-"/>
            </a:pPr>
            <a:r>
              <a:rPr lang="en-US" baseline="0" dirty="0" smtClean="0"/>
              <a:t>So what are &lt;meta&gt; tags exactly?</a:t>
            </a:r>
          </a:p>
          <a:p>
            <a:pPr marL="628650" lvl="1" indent="-171450">
              <a:buFontTx/>
              <a:buChar char="-"/>
            </a:pPr>
            <a:r>
              <a:rPr lang="en-US" baseline="0" dirty="0" smtClean="0"/>
              <a:t>The term meta is used often in Information Technology. It merely means “extra” information that adds context about something</a:t>
            </a:r>
          </a:p>
          <a:p>
            <a:pPr marL="628650" lvl="1" indent="-171450">
              <a:buFontTx/>
              <a:buChar char="-"/>
            </a:pPr>
            <a:r>
              <a:rPr lang="en-US" baseline="0" dirty="0" smtClean="0"/>
              <a:t>In this case, this &lt;meta&gt; tag deals with the charset</a:t>
            </a:r>
          </a:p>
          <a:p>
            <a:pPr marL="628650" lvl="1" indent="-171450">
              <a:buFontTx/>
              <a:buChar char="-"/>
            </a:pPr>
            <a:r>
              <a:rPr lang="en-US" baseline="0" dirty="0" smtClean="0"/>
              <a:t>So what is a charset and why is it set to “utf-8” and what context does that give to our HTML document</a:t>
            </a:r>
          </a:p>
          <a:p>
            <a:pPr marL="628650" lvl="1" indent="-171450">
              <a:buFontTx/>
              <a:buChar char="-"/>
            </a:pPr>
            <a:r>
              <a:rPr lang="en-US" baseline="0" dirty="0" smtClean="0"/>
              <a:t>This is actually a very complicated topic that I don’t really want to get into. Just know that it helps render your page properly</a:t>
            </a:r>
          </a:p>
          <a:p>
            <a:pPr marL="628650" lvl="1" indent="-171450">
              <a:buFontTx/>
              <a:buChar char="-"/>
            </a:pPr>
            <a:r>
              <a:rPr lang="en-US" baseline="0" dirty="0" smtClean="0"/>
              <a:t>If you’ve ever visited a foreign website and noticed some of the letters are missing or are replaced by a strange symbol. That has to do with the character set used by either the web document or the server that it’s hosted on.</a:t>
            </a:r>
          </a:p>
          <a:p>
            <a:pPr marL="171450" lvl="0" indent="-171450">
              <a:buFontTx/>
              <a:buChar char="-"/>
            </a:pPr>
            <a:r>
              <a:rPr lang="en-US" baseline="0" dirty="0" smtClean="0"/>
              <a:t>So anyway, what are some other &lt;meta&gt; tags we can use in our HTML document? (show slide)</a:t>
            </a:r>
          </a:p>
        </p:txBody>
      </p:sp>
      <p:sp>
        <p:nvSpPr>
          <p:cNvPr id="4" name="Slide Number Placeholder 3"/>
          <p:cNvSpPr>
            <a:spLocks noGrp="1"/>
          </p:cNvSpPr>
          <p:nvPr>
            <p:ph type="sldNum" sz="quarter" idx="10"/>
          </p:nvPr>
        </p:nvSpPr>
        <p:spPr/>
        <p:txBody>
          <a:bodyPr/>
          <a:lstStyle/>
          <a:p>
            <a:fld id="{ECC2BECD-94F6-4B6C-BEEC-DD1D48975E94}" type="slidenum">
              <a:rPr lang="en-US" smtClean="0"/>
              <a:t>2</a:t>
            </a:fld>
            <a:endParaRPr lang="en-US"/>
          </a:p>
        </p:txBody>
      </p:sp>
    </p:spTree>
    <p:extLst>
      <p:ext uri="{BB962C8B-B14F-4D97-AF65-F5344CB8AC3E}">
        <p14:creationId xmlns:p14="http://schemas.microsoft.com/office/powerpoint/2010/main" val="1963972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So here are a few examples</a:t>
            </a:r>
          </a:p>
          <a:p>
            <a:pPr marL="171450" indent="-171450">
              <a:buFontTx/>
              <a:buChar char="-"/>
            </a:pPr>
            <a:r>
              <a:rPr lang="en-US" baseline="0" dirty="0" smtClean="0"/>
              <a:t>Some of these are used for SEO purposes (search engine optimization)</a:t>
            </a:r>
          </a:p>
          <a:p>
            <a:pPr marL="628650" lvl="1" indent="-171450">
              <a:buFontTx/>
              <a:buChar char="-"/>
            </a:pPr>
            <a:r>
              <a:rPr lang="en-US" baseline="0" dirty="0" smtClean="0"/>
              <a:t>How some websites appear at the top of a list when you search keywords</a:t>
            </a:r>
          </a:p>
          <a:p>
            <a:pPr marL="628650" lvl="1" indent="-171450">
              <a:buFontTx/>
              <a:buChar char="-"/>
            </a:pPr>
            <a:r>
              <a:rPr lang="en-US" baseline="0" dirty="0" smtClean="0"/>
              <a:t>There’s also information about who authored the page and the last time it was revised</a:t>
            </a:r>
          </a:p>
          <a:p>
            <a:pPr marL="628650" lvl="1" indent="-171450">
              <a:buFontTx/>
              <a:buChar char="-"/>
            </a:pPr>
            <a:r>
              <a:rPr lang="en-US" baseline="0" dirty="0" smtClean="0"/>
              <a:t>So the http-</a:t>
            </a:r>
            <a:r>
              <a:rPr lang="en-US" baseline="0" dirty="0" err="1" smtClean="0"/>
              <a:t>equiv</a:t>
            </a:r>
            <a:r>
              <a:rPr lang="en-US" baseline="0" dirty="0" smtClean="0"/>
              <a:t>=“refresh” is basically saying that the information on this webpage could change often. For example, it could be a blog or a news page. So this &lt;meta&gt; tag is telling the web browser that it recommends loading automatically every 60 seconds</a:t>
            </a:r>
          </a:p>
          <a:p>
            <a:pPr marL="171450" lvl="0" indent="-171450">
              <a:buFontTx/>
              <a:buChar char="-"/>
            </a:pPr>
            <a:r>
              <a:rPr lang="en-US" baseline="0" dirty="0" smtClean="0"/>
              <a:t>(go to HTML document)</a:t>
            </a:r>
          </a:p>
          <a:p>
            <a:pPr marL="171450" lvl="0" indent="-171450">
              <a:buFontTx/>
              <a:buChar char="-"/>
            </a:pPr>
            <a:r>
              <a:rPr lang="en-US" baseline="0" dirty="0" smtClean="0"/>
              <a:t>So next up, we have the &lt;title&gt; tag. This is the text that you want displayed on a web browser’s title bar or in a tab’s title area</a:t>
            </a:r>
          </a:p>
          <a:p>
            <a:pPr marL="171450" lvl="0" indent="-171450">
              <a:buFontTx/>
              <a:buChar char="-"/>
            </a:pPr>
            <a:r>
              <a:rPr lang="en-US" baseline="0" dirty="0" smtClean="0"/>
              <a:t>Then we have &lt;link&gt; tag. I quickly went over this on Tuesday. It’s fairly simple to understand all of the attributes of the &lt;link&gt; element</a:t>
            </a:r>
          </a:p>
          <a:p>
            <a:pPr marL="628650" lvl="1" indent="-171450">
              <a:buFontTx/>
              <a:buChar char="-"/>
            </a:pPr>
            <a:r>
              <a:rPr lang="en-US" baseline="0" dirty="0" smtClean="0"/>
              <a:t>So </a:t>
            </a:r>
            <a:r>
              <a:rPr lang="en-US" baseline="0" dirty="0" err="1" smtClean="0"/>
              <a:t>rel</a:t>
            </a:r>
            <a:r>
              <a:rPr lang="en-US" baseline="0" dirty="0" smtClean="0"/>
              <a:t> is the relationship. What is the relationship between this link document to this HTML document? The relationship is that it is the stylesheet for the HTML document</a:t>
            </a:r>
          </a:p>
          <a:p>
            <a:pPr marL="628650" lvl="1" indent="-171450">
              <a:buFontTx/>
              <a:buChar char="-"/>
            </a:pPr>
            <a:r>
              <a:rPr lang="en-US" baseline="0" dirty="0" smtClean="0"/>
              <a:t>The type. What type should we interpret this file as? It’s a CSS file type</a:t>
            </a:r>
          </a:p>
          <a:p>
            <a:pPr marL="628650" lvl="1" indent="-171450">
              <a:buFontTx/>
              <a:buChar char="-"/>
            </a:pPr>
            <a:r>
              <a:rPr lang="en-US" baseline="0" dirty="0" smtClean="0"/>
              <a:t>We have the </a:t>
            </a:r>
            <a:r>
              <a:rPr lang="en-US" baseline="0" dirty="0" err="1" smtClean="0"/>
              <a:t>href</a:t>
            </a:r>
            <a:r>
              <a:rPr lang="en-US" baseline="0" dirty="0" smtClean="0"/>
              <a:t>. This is where you can find the stylesheet or this external file</a:t>
            </a:r>
          </a:p>
          <a:p>
            <a:pPr marL="628650" lvl="1" indent="-171450">
              <a:buFontTx/>
              <a:buChar char="-"/>
            </a:pPr>
            <a:r>
              <a:rPr lang="en-US" baseline="0" dirty="0" smtClean="0"/>
              <a:t>Then we have this media attribute. This relates to building responsive websites. When you are viewing a webpage on a tablet or a cell phone, how does the page render on the screen? We’ll talk more about this when we start working with responsive web design</a:t>
            </a:r>
          </a:p>
          <a:p>
            <a:pPr marL="171450" lvl="0" indent="-171450">
              <a:buFontTx/>
              <a:buChar char="-"/>
            </a:pPr>
            <a:r>
              <a:rPr lang="en-US" baseline="0" dirty="0" smtClean="0"/>
              <a:t>So when you think of the &lt;head&gt; section, think “additional information about the document but not necessarily displayed within the browser itself</a:t>
            </a:r>
          </a:p>
          <a:p>
            <a:pPr marL="171450" lvl="0" indent="-171450">
              <a:buFontTx/>
              <a:buChar char="-"/>
            </a:pPr>
            <a:r>
              <a:rPr lang="en-US" baseline="0" dirty="0" smtClean="0"/>
              <a:t>So next up is the &lt;body&gt;</a:t>
            </a:r>
          </a:p>
          <a:p>
            <a:pPr marL="171450" lvl="0" indent="-171450">
              <a:buFontTx/>
              <a:buChar char="-"/>
            </a:pPr>
            <a:r>
              <a:rPr lang="en-US" baseline="0" dirty="0" smtClean="0"/>
              <a:t>We’re going to spend a lot of our time going over the elements within the body so for now, as a general statement, the body and the tags within it give semantic meaning to our document. I’ll use that a lot when talking about HTML. It just means, it provides structure and meaning to our document.</a:t>
            </a:r>
          </a:p>
          <a:p>
            <a:pPr marL="628650" lvl="1" indent="-171450">
              <a:buFontTx/>
              <a:buChar char="-"/>
            </a:pPr>
            <a:r>
              <a:rPr lang="en-US" baseline="0" dirty="0" smtClean="0"/>
              <a:t>For visually impaired (give example) and search engine bots (give example)</a:t>
            </a:r>
          </a:p>
          <a:p>
            <a:pPr marL="171450" lvl="0" indent="-171450">
              <a:buFontTx/>
              <a:buChar char="-"/>
            </a:pPr>
            <a:r>
              <a:rPr lang="en-US" baseline="0" dirty="0" smtClean="0"/>
              <a:t>(Quickly go over HTML5 browser support)</a:t>
            </a:r>
          </a:p>
          <a:p>
            <a:pPr marL="628650" lvl="1" indent="-171450">
              <a:buFontTx/>
              <a:buChar char="-"/>
            </a:pPr>
            <a:r>
              <a:rPr lang="en-US" baseline="0" dirty="0" smtClean="0"/>
              <a:t>Came out in October of 2014</a:t>
            </a:r>
          </a:p>
          <a:p>
            <a:pPr marL="628650" lvl="1" indent="-171450">
              <a:buFontTx/>
              <a:buChar char="-"/>
            </a:pPr>
            <a:r>
              <a:rPr lang="en-US" baseline="0" dirty="0" smtClean="0"/>
              <a:t>Older web browsers are unaware of the newer &lt;tags&gt; that have been added to HTML5. That doesn’t mean you should avoid HTML5</a:t>
            </a:r>
          </a:p>
          <a:p>
            <a:pPr marL="628650" lvl="1" indent="-171450">
              <a:buFontTx/>
              <a:buChar char="-"/>
            </a:pPr>
            <a:r>
              <a:rPr lang="en-US" baseline="0" dirty="0" smtClean="0"/>
              <a:t>There are ways to make your website compatible with older version of web browsers but I’m not going to get into that</a:t>
            </a:r>
          </a:p>
          <a:p>
            <a:pPr marL="628650" lvl="1" indent="-171450">
              <a:buFontTx/>
              <a:buChar char="-"/>
            </a:pPr>
            <a:r>
              <a:rPr lang="en-US" baseline="0" dirty="0" smtClean="0"/>
              <a:t>Focus on HTML5. The world will catch up to HTML5 and you’ll be well positioned at that point</a:t>
            </a:r>
          </a:p>
          <a:p>
            <a:pPr marL="628650" lvl="1" indent="-171450">
              <a:buFontTx/>
              <a:buChar char="-"/>
            </a:pPr>
            <a:r>
              <a:rPr lang="en-US" baseline="0" dirty="0" smtClean="0"/>
              <a:t>And most browsers will ignore &lt;tags&gt; that they don’t recognize so even if you look at an HTML5 webpage on an older browser it should still look OK. It’s not going to ruin the entire look and feel of your webpage</a:t>
            </a:r>
          </a:p>
          <a:p>
            <a:pPr marL="628650" lvl="1" indent="-171450">
              <a:buFontTx/>
              <a:buChar char="-"/>
            </a:pPr>
            <a:r>
              <a:rPr lang="en-US" baseline="0" dirty="0" smtClean="0"/>
              <a:t>But with that said (view slide), if you really want to know how to make your website compatible to older web browsers</a:t>
            </a:r>
          </a:p>
        </p:txBody>
      </p:sp>
      <p:sp>
        <p:nvSpPr>
          <p:cNvPr id="4" name="Slide Number Placeholder 3"/>
          <p:cNvSpPr>
            <a:spLocks noGrp="1"/>
          </p:cNvSpPr>
          <p:nvPr>
            <p:ph type="sldNum" sz="quarter" idx="10"/>
          </p:nvPr>
        </p:nvSpPr>
        <p:spPr/>
        <p:txBody>
          <a:bodyPr/>
          <a:lstStyle/>
          <a:p>
            <a:fld id="{ECC2BECD-94F6-4B6C-BEEC-DD1D48975E94}" type="slidenum">
              <a:rPr lang="en-US" smtClean="0"/>
              <a:t>3</a:t>
            </a:fld>
            <a:endParaRPr lang="en-US"/>
          </a:p>
        </p:txBody>
      </p:sp>
    </p:spTree>
    <p:extLst>
      <p:ext uri="{BB962C8B-B14F-4D97-AF65-F5344CB8AC3E}">
        <p14:creationId xmlns:p14="http://schemas.microsoft.com/office/powerpoint/2010/main" val="768573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smtClean="0"/>
              <a:t>You may want to a quick search on the internet for a JavaScript file called HTML5shim that brings HTML5 features to older web browsers</a:t>
            </a:r>
          </a:p>
          <a:p>
            <a:pPr marL="0" indent="0">
              <a:buFontTx/>
              <a:buNone/>
            </a:pPr>
            <a:endParaRPr lang="en-US" baseline="0" dirty="0" smtClean="0"/>
          </a:p>
          <a:p>
            <a:pPr marL="171450" indent="-171450">
              <a:buFontTx/>
              <a:buChar char="-"/>
            </a:pPr>
            <a:r>
              <a:rPr lang="en-US" baseline="0" dirty="0" smtClean="0"/>
              <a:t>So there’s a lot of features in HTML5 that we’re not going to go over. In this class, we’re going to be spending most of our time talking about semantic &lt;tags&gt;</a:t>
            </a:r>
          </a:p>
          <a:p>
            <a:pPr marL="171450" indent="-171450">
              <a:buFontTx/>
              <a:buChar char="-"/>
            </a:pPr>
            <a:r>
              <a:rPr lang="en-US" baseline="0" dirty="0" smtClean="0"/>
              <a:t>We’re going to spend time talking about the new tags that allow you to create forms to collect information from users and a lot more</a:t>
            </a:r>
          </a:p>
          <a:p>
            <a:pPr marL="171450" indent="-171450">
              <a:buFontTx/>
              <a:buChar char="-"/>
            </a:pPr>
            <a:r>
              <a:rPr lang="en-US" baseline="0" dirty="0" smtClean="0"/>
              <a:t>We’ll also talk about embedding videos on webpages</a:t>
            </a:r>
          </a:p>
          <a:p>
            <a:pPr marL="171450" indent="-171450">
              <a:buFontTx/>
              <a:buChar char="-"/>
            </a:pPr>
            <a:r>
              <a:rPr lang="en-US" baseline="0" dirty="0" smtClean="0"/>
              <a:t>There’s a lot that you can do with just HTML5 and CSS3. If you learn HTML5 canvas and CSS3 transitions, which allow you to animate portions of your webpage you can essentially create simple games on your website. This would replace what some sites use today, which is flash or Silverlight</a:t>
            </a:r>
          </a:p>
          <a:p>
            <a:pPr marL="171450" indent="-171450">
              <a:buFontTx/>
              <a:buChar char="-"/>
            </a:pPr>
            <a:r>
              <a:rPr lang="en-US" baseline="0" dirty="0" smtClean="0"/>
              <a:t>But these are all advanced topics that could easily earn there own course. But honestly, it would just take too much time and can get very difficult.</a:t>
            </a:r>
          </a:p>
          <a:p>
            <a:pPr marL="171450" indent="-171450">
              <a:buFontTx/>
              <a:buChar char="-"/>
            </a:pPr>
            <a:r>
              <a:rPr lang="en-US" baseline="0" dirty="0" smtClean="0"/>
              <a:t>But after this class, if you’re interested in going in that direction in web development I would urge you to do some research online and take classes specific to that in college.</a:t>
            </a:r>
          </a:p>
          <a:p>
            <a:pPr marL="171450" indent="-171450">
              <a:buFontTx/>
              <a:buChar char="-"/>
            </a:pPr>
            <a:r>
              <a:rPr lang="en-US" baseline="0" dirty="0" smtClean="0"/>
              <a:t>There are a lot of resources out there for you</a:t>
            </a:r>
          </a:p>
          <a:p>
            <a:pPr marL="171450" indent="-171450">
              <a:buFontTx/>
              <a:buChar char="-"/>
            </a:pPr>
            <a:endParaRPr lang="en-US" baseline="0" dirty="0" smtClean="0"/>
          </a:p>
          <a:p>
            <a:pPr marL="171450" indent="-171450">
              <a:buFontTx/>
              <a:buChar char="-"/>
            </a:pPr>
            <a:r>
              <a:rPr lang="en-US" baseline="0" dirty="0" smtClean="0"/>
              <a:t>So back to web browser compatibility</a:t>
            </a:r>
          </a:p>
          <a:p>
            <a:pPr marL="171450" indent="-171450">
              <a:buFontTx/>
              <a:buChar char="-"/>
            </a:pPr>
            <a:r>
              <a:rPr lang="en-US" baseline="0" dirty="0" smtClean="0"/>
              <a:t>If you’re curious about an HTML5 feature and you want to check on each browser’s current support of that feature you can check out this website: caniuse.com</a:t>
            </a:r>
          </a:p>
          <a:p>
            <a:pPr marL="171450" indent="-171450">
              <a:buFontTx/>
              <a:buChar char="-"/>
            </a:pPr>
            <a:r>
              <a:rPr lang="en-US" baseline="0" dirty="0" smtClean="0"/>
              <a:t>You can search for particular features of HTML5 and CSS3 and you see what’s supported by each given web browser and which version</a:t>
            </a:r>
          </a:p>
          <a:p>
            <a:pPr marL="171450" indent="-171450">
              <a:buFontTx/>
              <a:buChar char="-"/>
            </a:pPr>
            <a:endParaRPr lang="en-US" baseline="0" dirty="0" smtClean="0"/>
          </a:p>
          <a:p>
            <a:pPr marL="171450" indent="-171450">
              <a:buFontTx/>
              <a:buChar char="-"/>
            </a:pPr>
            <a:r>
              <a:rPr lang="en-US" baseline="0" dirty="0" smtClean="0"/>
              <a:t>OK. So now we’re going to go deeper into the details of HTML5 but let’s take a quick 10 minute break (next slide)</a:t>
            </a:r>
          </a:p>
        </p:txBody>
      </p:sp>
      <p:sp>
        <p:nvSpPr>
          <p:cNvPr id="4" name="Slide Number Placeholder 3"/>
          <p:cNvSpPr>
            <a:spLocks noGrp="1"/>
          </p:cNvSpPr>
          <p:nvPr>
            <p:ph type="sldNum" sz="quarter" idx="10"/>
          </p:nvPr>
        </p:nvSpPr>
        <p:spPr/>
        <p:txBody>
          <a:bodyPr/>
          <a:lstStyle/>
          <a:p>
            <a:fld id="{ECC2BECD-94F6-4B6C-BEEC-DD1D48975E94}" type="slidenum">
              <a:rPr lang="en-US" smtClean="0"/>
              <a:t>4</a:t>
            </a:fld>
            <a:endParaRPr lang="en-US"/>
          </a:p>
        </p:txBody>
      </p:sp>
    </p:spTree>
    <p:extLst>
      <p:ext uri="{BB962C8B-B14F-4D97-AF65-F5344CB8AC3E}">
        <p14:creationId xmlns:p14="http://schemas.microsoft.com/office/powerpoint/2010/main" val="2826814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a:r>
            <a:r>
              <a:rPr lang="en-US" baseline="0" dirty="0" smtClean="0"/>
              <a:t> (next slide)</a:t>
            </a:r>
            <a:endParaRPr lang="en-US" dirty="0"/>
          </a:p>
        </p:txBody>
      </p:sp>
      <p:sp>
        <p:nvSpPr>
          <p:cNvPr id="4" name="Slide Number Placeholder 3"/>
          <p:cNvSpPr>
            <a:spLocks noGrp="1"/>
          </p:cNvSpPr>
          <p:nvPr>
            <p:ph type="sldNum" sz="quarter" idx="10"/>
          </p:nvPr>
        </p:nvSpPr>
        <p:spPr/>
        <p:txBody>
          <a:bodyPr/>
          <a:lstStyle/>
          <a:p>
            <a:fld id="{ECC2BECD-94F6-4B6C-BEEC-DD1D48975E94}" type="slidenum">
              <a:rPr lang="en-US" smtClean="0"/>
              <a:t>5</a:t>
            </a:fld>
            <a:endParaRPr lang="en-US"/>
          </a:p>
        </p:txBody>
      </p:sp>
    </p:spTree>
    <p:extLst>
      <p:ext uri="{BB962C8B-B14F-4D97-AF65-F5344CB8AC3E}">
        <p14:creationId xmlns:p14="http://schemas.microsoft.com/office/powerpoint/2010/main" val="2871609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smtClean="0"/>
              <a:t>So basically a &lt;p&gt; paragraph is a complete thought, a grouping of sentences of ideas together, “a run of phrasing content”</a:t>
            </a:r>
          </a:p>
          <a:p>
            <a:pPr marL="171450" indent="-171450">
              <a:buFontTx/>
              <a:buChar char="-"/>
            </a:pPr>
            <a:r>
              <a:rPr lang="en-US" baseline="0" dirty="0" smtClean="0"/>
              <a:t>(next slide)</a:t>
            </a:r>
            <a:endParaRPr lang="en-US" dirty="0"/>
          </a:p>
        </p:txBody>
      </p:sp>
      <p:sp>
        <p:nvSpPr>
          <p:cNvPr id="4" name="Slide Number Placeholder 3"/>
          <p:cNvSpPr>
            <a:spLocks noGrp="1"/>
          </p:cNvSpPr>
          <p:nvPr>
            <p:ph type="sldNum" sz="quarter" idx="10"/>
          </p:nvPr>
        </p:nvSpPr>
        <p:spPr/>
        <p:txBody>
          <a:bodyPr/>
          <a:lstStyle/>
          <a:p>
            <a:fld id="{ECC2BECD-94F6-4B6C-BEEC-DD1D48975E94}" type="slidenum">
              <a:rPr lang="en-US" smtClean="0"/>
              <a:t>6</a:t>
            </a:fld>
            <a:endParaRPr lang="en-US"/>
          </a:p>
        </p:txBody>
      </p:sp>
    </p:spTree>
    <p:extLst>
      <p:ext uri="{BB962C8B-B14F-4D97-AF65-F5344CB8AC3E}">
        <p14:creationId xmlns:p14="http://schemas.microsoft.com/office/powerpoint/2010/main" val="1727304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Let’s go back to w3.org and look at some examples of each</a:t>
            </a:r>
          </a:p>
          <a:p>
            <a:pPr marL="171450" indent="-171450">
              <a:buFontTx/>
              <a:buChar char="-"/>
            </a:pPr>
            <a:endParaRPr lang="en-US" dirty="0" smtClean="0"/>
          </a:p>
          <a:p>
            <a:pPr marL="171450" indent="-171450">
              <a:buFontTx/>
              <a:buChar char="-"/>
            </a:pPr>
            <a:r>
              <a:rPr lang="en-US" dirty="0" smtClean="0"/>
              <a:t>Only</a:t>
            </a:r>
            <a:r>
              <a:rPr lang="en-US" baseline="0" dirty="0" smtClean="0"/>
              <a:t> reason I bring up &lt;strong&gt; and &lt;b&gt; elements is because there use to be a lot of confusion as to the difference between them</a:t>
            </a:r>
          </a:p>
          <a:p>
            <a:pPr marL="628650" lvl="1" indent="-171450">
              <a:buFontTx/>
              <a:buChar char="-"/>
            </a:pPr>
            <a:r>
              <a:rPr lang="en-US" baseline="0" dirty="0" smtClean="0"/>
              <a:t>With &lt;strong&gt; you’re indicating that the text has strong importance</a:t>
            </a:r>
          </a:p>
          <a:p>
            <a:pPr marL="628650" lvl="1" indent="-171450">
              <a:buFontTx/>
              <a:buChar char="-"/>
            </a:pPr>
            <a:r>
              <a:rPr lang="en-US" baseline="0" dirty="0" smtClean="0"/>
              <a:t>With &lt;b&gt; element it’s text that you want to draw attention to</a:t>
            </a:r>
          </a:p>
          <a:p>
            <a:pPr marL="628650" lvl="1" indent="-171450">
              <a:buFontTx/>
              <a:buChar char="-"/>
            </a:pPr>
            <a:endParaRPr lang="en-US" baseline="0" dirty="0" smtClean="0"/>
          </a:p>
          <a:p>
            <a:pPr marL="171450" lvl="0" indent="-171450">
              <a:buFontTx/>
              <a:buChar char="-"/>
            </a:pPr>
            <a:r>
              <a:rPr lang="en-US" baseline="0" dirty="0" smtClean="0"/>
              <a:t>I bring this &lt;u&gt; element up because before HTML5 it was used to underline texts and some people will still use it for that but really you should be using cascading style sheets to underline words if your purpose it to draw attention to that text for aesthetic purpose (text-decoration attribute)</a:t>
            </a:r>
          </a:p>
          <a:p>
            <a:pPr marL="171450" lvl="0" indent="-171450">
              <a:buFontTx/>
              <a:buChar char="-"/>
            </a:pPr>
            <a:endParaRPr lang="en-US" baseline="0" dirty="0" smtClean="0"/>
          </a:p>
          <a:p>
            <a:pPr marL="171450" lvl="0" indent="-171450">
              <a:buFontTx/>
              <a:buChar char="-"/>
            </a:pPr>
            <a:r>
              <a:rPr lang="en-US" baseline="0" dirty="0" smtClean="0"/>
              <a:t>&lt;small&gt; element. Think “small print”… text run that is a disclaimer, or legal restriction or a copyright</a:t>
            </a:r>
          </a:p>
          <a:p>
            <a:pPr marL="171450" lvl="0" indent="-171450">
              <a:buFontTx/>
              <a:buChar char="-"/>
            </a:pPr>
            <a:endParaRPr lang="en-US" dirty="0" smtClean="0"/>
          </a:p>
          <a:p>
            <a:pPr marL="171450" lvl="0" indent="-171450">
              <a:buFontTx/>
              <a:buChar char="-"/>
            </a:pPr>
            <a:r>
              <a:rPr lang="en-US" dirty="0" smtClean="0"/>
              <a:t>Let’s look at some more (next slide)</a:t>
            </a:r>
            <a:endParaRPr lang="en-US" dirty="0"/>
          </a:p>
        </p:txBody>
      </p:sp>
      <p:sp>
        <p:nvSpPr>
          <p:cNvPr id="4" name="Slide Number Placeholder 3"/>
          <p:cNvSpPr>
            <a:spLocks noGrp="1"/>
          </p:cNvSpPr>
          <p:nvPr>
            <p:ph type="sldNum" sz="quarter" idx="10"/>
          </p:nvPr>
        </p:nvSpPr>
        <p:spPr/>
        <p:txBody>
          <a:bodyPr/>
          <a:lstStyle/>
          <a:p>
            <a:fld id="{ECC2BECD-94F6-4B6C-BEEC-DD1D48975E94}" type="slidenum">
              <a:rPr lang="en-US" smtClean="0"/>
              <a:t>7</a:t>
            </a:fld>
            <a:endParaRPr lang="en-US"/>
          </a:p>
        </p:txBody>
      </p:sp>
    </p:spTree>
    <p:extLst>
      <p:ext uri="{BB962C8B-B14F-4D97-AF65-F5344CB8AC3E}">
        <p14:creationId xmlns:p14="http://schemas.microsoft.com/office/powerpoint/2010/main" val="2739605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(see example in W3.org</a:t>
            </a:r>
          </a:p>
          <a:p>
            <a:pPr marL="171450" indent="-171450">
              <a:buFontTx/>
              <a:buChar char="-"/>
            </a:pPr>
            <a:r>
              <a:rPr lang="en-US" dirty="0" smtClean="0"/>
              <a:t>Again, many</a:t>
            </a:r>
            <a:r>
              <a:rPr lang="en-US" baseline="0" dirty="0" smtClean="0"/>
              <a:t> people use the &lt;s&gt; element to strike through texts but that’s the job of cascading style sheets.</a:t>
            </a:r>
          </a:p>
          <a:p>
            <a:pPr marL="171450" indent="-171450">
              <a:buFontTx/>
              <a:buChar char="-"/>
            </a:pPr>
            <a:r>
              <a:rPr lang="en-US" baseline="0" dirty="0" smtClean="0"/>
              <a:t>Think presentational purpose is for CSS</a:t>
            </a:r>
          </a:p>
          <a:p>
            <a:pPr marL="171450" indent="-171450">
              <a:buFontTx/>
              <a:buChar char="-"/>
            </a:pPr>
            <a:r>
              <a:rPr lang="en-US" baseline="0" dirty="0" smtClean="0"/>
              <a:t>Semantic meaning in your document, use this element</a:t>
            </a:r>
          </a:p>
          <a:p>
            <a:pPr marL="171450" indent="-171450">
              <a:buFontTx/>
              <a:buChar char="-"/>
            </a:pPr>
            <a:endParaRPr lang="en-US" baseline="0" dirty="0" smtClean="0"/>
          </a:p>
          <a:p>
            <a:pPr marL="171450" indent="-171450">
              <a:buFontTx/>
              <a:buChar char="-"/>
            </a:pPr>
            <a:r>
              <a:rPr lang="en-US" baseline="0" dirty="0" smtClean="0"/>
              <a:t>&lt;del&gt; would be used in a to-do list (see example)</a:t>
            </a:r>
          </a:p>
          <a:p>
            <a:pPr marL="171450" indent="-171450">
              <a:buFontTx/>
              <a:buChar char="-"/>
            </a:pPr>
            <a:endParaRPr lang="en-US" baseline="0" dirty="0" smtClean="0"/>
          </a:p>
          <a:p>
            <a:pPr marL="171450" indent="-171450">
              <a:buFontTx/>
              <a:buChar char="-"/>
            </a:pPr>
            <a:r>
              <a:rPr lang="en-US" baseline="0" dirty="0" smtClean="0"/>
              <a:t>With &lt;cite&gt; and &lt;</a:t>
            </a:r>
            <a:r>
              <a:rPr lang="en-US" baseline="0" dirty="0" err="1" smtClean="0"/>
              <a:t>blockquote</a:t>
            </a:r>
            <a:r>
              <a:rPr lang="en-US" baseline="0" dirty="0" smtClean="0"/>
              <a:t>&gt; just keep in mind they are commonly used together when you need to reference other websites, documents, books, music, or whatever the case may be</a:t>
            </a:r>
          </a:p>
          <a:p>
            <a:pPr marL="171450" indent="-171450">
              <a:buFontTx/>
              <a:buChar char="-"/>
            </a:pPr>
            <a:endParaRPr lang="en-US" baseline="0" dirty="0" smtClean="0"/>
          </a:p>
          <a:p>
            <a:pPr marL="171450" indent="-171450">
              <a:buFontTx/>
              <a:buChar char="-"/>
            </a:pPr>
            <a:r>
              <a:rPr lang="en-US" baseline="0" dirty="0" smtClean="0"/>
              <a:t>Moving on (next slide)</a:t>
            </a:r>
          </a:p>
        </p:txBody>
      </p:sp>
      <p:sp>
        <p:nvSpPr>
          <p:cNvPr id="4" name="Slide Number Placeholder 3"/>
          <p:cNvSpPr>
            <a:spLocks noGrp="1"/>
          </p:cNvSpPr>
          <p:nvPr>
            <p:ph type="sldNum" sz="quarter" idx="10"/>
          </p:nvPr>
        </p:nvSpPr>
        <p:spPr/>
        <p:txBody>
          <a:bodyPr/>
          <a:lstStyle/>
          <a:p>
            <a:fld id="{ECC2BECD-94F6-4B6C-BEEC-DD1D48975E94}" type="slidenum">
              <a:rPr lang="en-US" smtClean="0"/>
              <a:t>8</a:t>
            </a:fld>
            <a:endParaRPr lang="en-US"/>
          </a:p>
        </p:txBody>
      </p:sp>
    </p:spTree>
    <p:extLst>
      <p:ext uri="{BB962C8B-B14F-4D97-AF65-F5344CB8AC3E}">
        <p14:creationId xmlns:p14="http://schemas.microsoft.com/office/powerpoint/2010/main" val="4223188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So</a:t>
            </a:r>
            <a:r>
              <a:rPr lang="en-US" baseline="0" dirty="0" smtClean="0"/>
              <a:t> the anchor tag is a big deal in web development. So it’s important that you know how it works because it has quite a few options</a:t>
            </a:r>
          </a:p>
          <a:p>
            <a:pPr marL="171450" indent="-171450">
              <a:buFontTx/>
              <a:buChar char="-"/>
            </a:pPr>
            <a:r>
              <a:rPr lang="en-US" baseline="0" dirty="0" smtClean="0"/>
              <a:t>We all have used anchor tags</a:t>
            </a:r>
          </a:p>
          <a:p>
            <a:pPr marL="628650" lvl="1" indent="-171450">
              <a:buFontTx/>
              <a:buChar char="-"/>
            </a:pPr>
            <a:r>
              <a:rPr lang="en-US" baseline="0" dirty="0" smtClean="0"/>
              <a:t>It’s how we navigate the web from one webpage to another</a:t>
            </a:r>
          </a:p>
          <a:p>
            <a:pPr marL="628650" lvl="1" indent="-171450">
              <a:buFontTx/>
              <a:buChar char="-"/>
            </a:pPr>
            <a:endParaRPr lang="en-US" baseline="0" dirty="0" smtClean="0"/>
          </a:p>
          <a:p>
            <a:pPr marL="171450" lvl="0" indent="-171450">
              <a:buFontTx/>
              <a:buChar char="-"/>
            </a:pPr>
            <a:r>
              <a:rPr lang="en-US" baseline="0" dirty="0" smtClean="0"/>
              <a:t>There’s a lot of documentation regarding anchor tags but I‘m going to give you just the basics</a:t>
            </a:r>
          </a:p>
          <a:p>
            <a:pPr marL="171450" lvl="0" indent="-171450">
              <a:buFontTx/>
              <a:buChar char="-"/>
            </a:pPr>
            <a:endParaRPr lang="en-US" baseline="0" dirty="0" smtClean="0"/>
          </a:p>
          <a:p>
            <a:pPr marL="171450" lvl="0" indent="-171450">
              <a:buFontTx/>
              <a:buChar char="-"/>
            </a:pPr>
            <a:r>
              <a:rPr lang="en-US" baseline="0" dirty="0" smtClean="0"/>
              <a:t>And we’re going to do a little exercise to get you guys some more experience writing code</a:t>
            </a:r>
          </a:p>
          <a:p>
            <a:pPr marL="171450" indent="-171450">
              <a:buFontTx/>
              <a:buChar char="-"/>
            </a:pPr>
            <a:endParaRPr lang="en-US" baseline="0" dirty="0" smtClean="0"/>
          </a:p>
          <a:p>
            <a:pPr marL="171450" indent="-171450">
              <a:buFontTx/>
              <a:buChar char="-"/>
            </a:pPr>
            <a:r>
              <a:rPr lang="en-US" baseline="0" dirty="0" smtClean="0"/>
              <a:t>Show example of:</a:t>
            </a:r>
          </a:p>
          <a:p>
            <a:pPr marL="628650" lvl="1" indent="-171450">
              <a:buFontTx/>
              <a:buChar char="-"/>
            </a:pPr>
            <a:r>
              <a:rPr lang="en-US" baseline="0" dirty="0" smtClean="0"/>
              <a:t>Absolute URL</a:t>
            </a:r>
          </a:p>
          <a:p>
            <a:pPr marL="628650" lvl="1" indent="-171450">
              <a:buFontTx/>
              <a:buChar char="-"/>
            </a:pPr>
            <a:r>
              <a:rPr lang="en-US" baseline="0" dirty="0" smtClean="0"/>
              <a:t>Relative hyperlink</a:t>
            </a:r>
          </a:p>
          <a:p>
            <a:pPr marL="628650" lvl="1" indent="-171450">
              <a:buFontTx/>
              <a:buChar char="-"/>
            </a:pPr>
            <a:r>
              <a:rPr lang="en-US" baseline="0" dirty="0" smtClean="0"/>
              <a:t>Relative hyperlink in a subfolder</a:t>
            </a:r>
          </a:p>
          <a:p>
            <a:pPr marL="628650" lvl="1" indent="-171450">
              <a:buFontTx/>
              <a:buChar char="-"/>
            </a:pPr>
            <a:r>
              <a:rPr lang="en-US" baseline="0" dirty="0" smtClean="0"/>
              <a:t>Return to a page in a parent directory</a:t>
            </a:r>
          </a:p>
          <a:p>
            <a:pPr marL="628650" lvl="1" indent="-171450">
              <a:buFontTx/>
              <a:buChar char="-"/>
            </a:pPr>
            <a:r>
              <a:rPr lang="en-US" baseline="0" dirty="0" smtClean="0"/>
              <a:t>Opening a URL in a new window</a:t>
            </a:r>
          </a:p>
          <a:p>
            <a:pPr marL="628650" lvl="1" indent="-171450">
              <a:buFontTx/>
              <a:buChar char="-"/>
            </a:pPr>
            <a:r>
              <a:rPr lang="en-US" baseline="0" dirty="0" smtClean="0"/>
              <a:t>Named anchors </a:t>
            </a:r>
          </a:p>
          <a:p>
            <a:pPr marL="1085850" lvl="2" indent="-171450">
              <a:buFontTx/>
              <a:buChar char="-"/>
            </a:pPr>
            <a:r>
              <a:rPr lang="en-US" baseline="0" dirty="0" smtClean="0"/>
              <a:t>(ex. </a:t>
            </a:r>
            <a:r>
              <a:rPr lang="en-US" baseline="0" dirty="0" err="1" smtClean="0"/>
              <a:t>href</a:t>
            </a:r>
            <a:r>
              <a:rPr lang="en-US" baseline="0" dirty="0" smtClean="0"/>
              <a:t>=“#bottom” matches in &lt;a name=“bottom”&gt;)</a:t>
            </a:r>
          </a:p>
          <a:p>
            <a:pPr marL="171450" lvl="0" indent="-171450">
              <a:buFontTx/>
              <a:buChar char="-"/>
            </a:pPr>
            <a:endParaRPr lang="en-US" baseline="0" dirty="0" smtClean="0"/>
          </a:p>
          <a:p>
            <a:pPr marL="171450" lvl="0" indent="-171450">
              <a:buFontTx/>
              <a:buChar char="-"/>
            </a:pPr>
            <a:r>
              <a:rPr lang="en-US" baseline="0" dirty="0" smtClean="0"/>
              <a:t>(Talk about the color of the links after clicking on them)</a:t>
            </a:r>
          </a:p>
          <a:p>
            <a:pPr marL="171450" lvl="0" indent="-171450">
              <a:buFontTx/>
              <a:buChar char="-"/>
            </a:pPr>
            <a:endParaRPr lang="en-US" baseline="0" dirty="0" smtClean="0"/>
          </a:p>
          <a:p>
            <a:pPr marL="171450" lvl="0" indent="-171450">
              <a:buFontTx/>
              <a:buChar char="-"/>
            </a:pPr>
            <a:r>
              <a:rPr lang="en-US" baseline="0" dirty="0" smtClean="0"/>
              <a:t>OK (next slide)</a:t>
            </a:r>
          </a:p>
        </p:txBody>
      </p:sp>
      <p:sp>
        <p:nvSpPr>
          <p:cNvPr id="4" name="Slide Number Placeholder 3"/>
          <p:cNvSpPr>
            <a:spLocks noGrp="1"/>
          </p:cNvSpPr>
          <p:nvPr>
            <p:ph type="sldNum" sz="quarter" idx="10"/>
          </p:nvPr>
        </p:nvSpPr>
        <p:spPr/>
        <p:txBody>
          <a:bodyPr/>
          <a:lstStyle/>
          <a:p>
            <a:fld id="{ECC2BECD-94F6-4B6C-BEEC-DD1D48975E94}" type="slidenum">
              <a:rPr lang="en-US" smtClean="0"/>
              <a:t>9</a:t>
            </a:fld>
            <a:endParaRPr lang="en-US"/>
          </a:p>
        </p:txBody>
      </p:sp>
    </p:spTree>
    <p:extLst>
      <p:ext uri="{BB962C8B-B14F-4D97-AF65-F5344CB8AC3E}">
        <p14:creationId xmlns:p14="http://schemas.microsoft.com/office/powerpoint/2010/main" val="567940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We need to be aware of paths and texts</a:t>
            </a:r>
          </a:p>
          <a:p>
            <a:pPr marL="171450" indent="-171450">
              <a:buFontTx/>
              <a:buChar char="-"/>
            </a:pPr>
            <a:r>
              <a:rPr lang="en-US" dirty="0" smtClean="0"/>
              <a:t>Absolute</a:t>
            </a:r>
            <a:r>
              <a:rPr lang="en-US" baseline="0" dirty="0" smtClean="0"/>
              <a:t> URLs we would add the full domain name and all the folders until we got to the actual resource whether that is a gif file or whatever the case may be</a:t>
            </a:r>
          </a:p>
          <a:p>
            <a:pPr marL="171450" indent="-171450">
              <a:buFontTx/>
              <a:buChar char="-"/>
            </a:pPr>
            <a:endParaRPr lang="en-US" baseline="0" dirty="0" smtClean="0"/>
          </a:p>
          <a:p>
            <a:pPr marL="171450" indent="-171450">
              <a:buFontTx/>
              <a:buChar char="-"/>
            </a:pPr>
            <a:r>
              <a:rPr lang="en-US" baseline="0" dirty="0" smtClean="0"/>
              <a:t>(Discuss the scenarios)</a:t>
            </a:r>
          </a:p>
          <a:p>
            <a:pPr marL="171450" indent="-171450">
              <a:buFontTx/>
              <a:buChar char="-"/>
            </a:pPr>
            <a:endParaRPr lang="en-US" dirty="0" smtClean="0"/>
          </a:p>
          <a:p>
            <a:pPr marL="171450" indent="-171450">
              <a:buFontTx/>
              <a:buChar char="-"/>
            </a:pPr>
            <a:r>
              <a:rPr lang="en-US" dirty="0" smtClean="0"/>
              <a:t>(Have</a:t>
            </a:r>
            <a:r>
              <a:rPr lang="en-US" baseline="0" dirty="0" smtClean="0"/>
              <a:t> students work on exercise)</a:t>
            </a:r>
          </a:p>
          <a:p>
            <a:pPr marL="171450" indent="-171450">
              <a:buFontTx/>
              <a:buChar char="-"/>
            </a:pPr>
            <a:r>
              <a:rPr lang="en-US" baseline="0" dirty="0" smtClean="0"/>
              <a:t>(Complete exercise on projector screen)</a:t>
            </a:r>
          </a:p>
          <a:p>
            <a:pPr marL="171450" indent="-171450">
              <a:buFontTx/>
              <a:buChar char="-"/>
            </a:pPr>
            <a:endParaRPr lang="en-US" baseline="0" dirty="0" smtClean="0"/>
          </a:p>
          <a:p>
            <a:pPr marL="171450" indent="-171450">
              <a:buFontTx/>
              <a:buChar char="-"/>
            </a:pPr>
            <a:r>
              <a:rPr lang="en-US" baseline="0" dirty="0" smtClean="0"/>
              <a:t>(take a 10 minute break/next slide)</a:t>
            </a:r>
            <a:endParaRPr lang="en-US" dirty="0"/>
          </a:p>
        </p:txBody>
      </p:sp>
      <p:sp>
        <p:nvSpPr>
          <p:cNvPr id="4" name="Slide Number Placeholder 3"/>
          <p:cNvSpPr>
            <a:spLocks noGrp="1"/>
          </p:cNvSpPr>
          <p:nvPr>
            <p:ph type="sldNum" sz="quarter" idx="10"/>
          </p:nvPr>
        </p:nvSpPr>
        <p:spPr/>
        <p:txBody>
          <a:bodyPr/>
          <a:lstStyle/>
          <a:p>
            <a:fld id="{ECC2BECD-94F6-4B6C-BEEC-DD1D48975E94}" type="slidenum">
              <a:rPr lang="en-US" smtClean="0"/>
              <a:t>10</a:t>
            </a:fld>
            <a:endParaRPr lang="en-US"/>
          </a:p>
        </p:txBody>
      </p:sp>
    </p:spTree>
    <p:extLst>
      <p:ext uri="{BB962C8B-B14F-4D97-AF65-F5344CB8AC3E}">
        <p14:creationId xmlns:p14="http://schemas.microsoft.com/office/powerpoint/2010/main" val="1376994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The final element I want to talk</a:t>
            </a:r>
            <a:r>
              <a:rPr lang="en-US" baseline="0" dirty="0" smtClean="0"/>
              <a:t> about today is the &lt;span&gt; element</a:t>
            </a:r>
          </a:p>
          <a:p>
            <a:endParaRPr lang="en-US" baseline="0" dirty="0" smtClean="0"/>
          </a:p>
          <a:p>
            <a:pPr marL="171450" indent="-171450">
              <a:buFontTx/>
              <a:buChar char="-"/>
            </a:pPr>
            <a:r>
              <a:rPr lang="en-US" baseline="0" dirty="0" smtClean="0"/>
              <a:t>Read definition</a:t>
            </a:r>
          </a:p>
          <a:p>
            <a:pPr marL="171450" indent="-171450">
              <a:buFontTx/>
              <a:buChar char="-"/>
            </a:pPr>
            <a:endParaRPr lang="en-US" baseline="0" dirty="0" smtClean="0"/>
          </a:p>
          <a:p>
            <a:pPr marL="171450" indent="-171450">
              <a:buFontTx/>
              <a:buChar char="-"/>
            </a:pPr>
            <a:r>
              <a:rPr lang="en-US" baseline="0" dirty="0" smtClean="0"/>
              <a:t>So it’s typically used for styling purposes. It doesn’t fit in to any of the other elements I discussed earlier</a:t>
            </a:r>
          </a:p>
          <a:p>
            <a:pPr marL="171450" indent="-171450">
              <a:buFontTx/>
              <a:buChar char="-"/>
            </a:pPr>
            <a:endParaRPr lang="en-US" baseline="0" dirty="0" smtClean="0"/>
          </a:p>
          <a:p>
            <a:pPr marL="171450" indent="-171450">
              <a:buFontTx/>
              <a:buChar char="-"/>
            </a:pPr>
            <a:r>
              <a:rPr lang="en-US" baseline="0" dirty="0" smtClean="0"/>
              <a:t>(show examples on w3.org)</a:t>
            </a:r>
          </a:p>
          <a:p>
            <a:pPr marL="171450" indent="-171450">
              <a:buFontTx/>
              <a:buChar char="-"/>
            </a:pPr>
            <a:endParaRPr lang="en-US" baseline="0" dirty="0" smtClean="0"/>
          </a:p>
          <a:p>
            <a:pPr marL="171450" indent="-171450">
              <a:buFontTx/>
              <a:buChar char="-"/>
            </a:pPr>
            <a:r>
              <a:rPr lang="en-US" baseline="0" dirty="0" smtClean="0"/>
              <a:t>So using the class attribute does provide you some level of meaning to your &lt;span&gt; tag; however, since you’re the one making up the values in the class attribute, other applications wouldn’t be able to interpret that class attributes value the way they’d be able to interpret HTML markup.</a:t>
            </a:r>
          </a:p>
          <a:p>
            <a:pPr marL="171450" indent="-171450">
              <a:buFontTx/>
              <a:buChar char="-"/>
            </a:pPr>
            <a:endParaRPr lang="en-US" baseline="0" dirty="0" smtClean="0"/>
          </a:p>
          <a:p>
            <a:pPr marL="171450" indent="-171450">
              <a:buFontTx/>
              <a:buChar char="-"/>
            </a:pPr>
            <a:r>
              <a:rPr lang="en-US" baseline="0" dirty="0" smtClean="0"/>
              <a:t>(provide examples)</a:t>
            </a:r>
          </a:p>
          <a:p>
            <a:pPr marL="171450" indent="-171450">
              <a:buFontTx/>
              <a:buChar char="-"/>
            </a:pPr>
            <a:endParaRPr lang="en-US" baseline="0" dirty="0" smtClean="0"/>
          </a:p>
          <a:p>
            <a:pPr marL="171450" indent="-171450">
              <a:buFontTx/>
              <a:buChar char="-"/>
            </a:pPr>
            <a:r>
              <a:rPr lang="en-US" baseline="0" dirty="0" smtClean="0"/>
              <a:t>(next slide)</a:t>
            </a:r>
            <a:endParaRPr lang="en-US" dirty="0"/>
          </a:p>
        </p:txBody>
      </p:sp>
      <p:sp>
        <p:nvSpPr>
          <p:cNvPr id="4" name="Slide Number Placeholder 3"/>
          <p:cNvSpPr>
            <a:spLocks noGrp="1"/>
          </p:cNvSpPr>
          <p:nvPr>
            <p:ph type="sldNum" sz="quarter" idx="10"/>
          </p:nvPr>
        </p:nvSpPr>
        <p:spPr/>
        <p:txBody>
          <a:bodyPr/>
          <a:lstStyle/>
          <a:p>
            <a:fld id="{ECC2BECD-94F6-4B6C-BEEC-DD1D48975E94}" type="slidenum">
              <a:rPr lang="en-US" smtClean="0"/>
              <a:t>11</a:t>
            </a:fld>
            <a:endParaRPr lang="en-US"/>
          </a:p>
        </p:txBody>
      </p:sp>
    </p:spTree>
    <p:extLst>
      <p:ext uri="{BB962C8B-B14F-4D97-AF65-F5344CB8AC3E}">
        <p14:creationId xmlns:p14="http://schemas.microsoft.com/office/powerpoint/2010/main" val="208585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Let’s talk about these global</a:t>
            </a:r>
            <a:r>
              <a:rPr lang="en-US" baseline="0" dirty="0" smtClean="0"/>
              <a:t> attributes</a:t>
            </a:r>
          </a:p>
          <a:p>
            <a:pPr marL="171450" indent="-171450">
              <a:buFontTx/>
              <a:buChar char="-"/>
            </a:pPr>
            <a:r>
              <a:rPr lang="en-US" baseline="0" dirty="0" smtClean="0"/>
              <a:t>These can be added to each HTML5 element</a:t>
            </a:r>
          </a:p>
          <a:p>
            <a:pPr marL="171450" indent="-171450">
              <a:buFontTx/>
              <a:buChar char="-"/>
            </a:pPr>
            <a:endParaRPr lang="en-US" baseline="0" dirty="0" smtClean="0"/>
          </a:p>
          <a:p>
            <a:pPr marL="171450" indent="-171450">
              <a:buFontTx/>
              <a:buChar char="-"/>
            </a:pPr>
            <a:r>
              <a:rPr lang="en-US" baseline="0" dirty="0" smtClean="0"/>
              <a:t>(point at &lt;span&gt; tag</a:t>
            </a:r>
          </a:p>
          <a:p>
            <a:pPr marL="628650" lvl="1" indent="-171450">
              <a:buFontTx/>
              <a:buChar char="-"/>
            </a:pPr>
            <a:r>
              <a:rPr lang="en-US" baseline="0" dirty="0" smtClean="0"/>
              <a:t>In this case, there are two attributes: class and id</a:t>
            </a:r>
          </a:p>
          <a:p>
            <a:pPr marL="628650" lvl="1" indent="-171450">
              <a:buFontTx/>
              <a:buChar char="-"/>
            </a:pPr>
            <a:r>
              <a:rPr lang="en-US" baseline="0" dirty="0" smtClean="0"/>
              <a:t>I used them on a span tag but these attributes are global attributes so I can use them on an an &lt;h1&gt; tag or a &lt;p&gt; tag</a:t>
            </a:r>
          </a:p>
          <a:p>
            <a:pPr marL="628650" lvl="1" indent="-171450">
              <a:buFontTx/>
              <a:buChar char="-"/>
            </a:pPr>
            <a:endParaRPr lang="en-US" baseline="0" dirty="0" smtClean="0"/>
          </a:p>
          <a:p>
            <a:pPr marL="171450" lvl="0" indent="-171450">
              <a:buFontTx/>
              <a:buChar char="-"/>
            </a:pPr>
            <a:r>
              <a:rPr lang="en-US" baseline="0" dirty="0" smtClean="0"/>
              <a:t>An id is typically used as a unique identifier that I can add on each element if I wanted to</a:t>
            </a:r>
          </a:p>
          <a:p>
            <a:pPr marL="171450" lvl="0" indent="-171450">
              <a:buFontTx/>
              <a:buChar char="-"/>
            </a:pPr>
            <a:r>
              <a:rPr lang="en-US" baseline="0" dirty="0" smtClean="0"/>
              <a:t>The id attribute is typically used for client-side scripting</a:t>
            </a:r>
          </a:p>
          <a:p>
            <a:pPr marL="628650" lvl="1" indent="-171450">
              <a:buFontTx/>
              <a:buChar char="-"/>
            </a:pPr>
            <a:r>
              <a:rPr lang="en-US" baseline="0" dirty="0" smtClean="0"/>
              <a:t>For example, whenever I use JavaScript so that I can access one item programmatically</a:t>
            </a:r>
          </a:p>
          <a:p>
            <a:pPr marL="171450" lvl="0" indent="-171450">
              <a:buFontTx/>
              <a:buChar char="-"/>
            </a:pPr>
            <a:r>
              <a:rPr lang="en-US" baseline="0" dirty="0" smtClean="0"/>
              <a:t>It can also be used with cascading style sheets by referencing just the id</a:t>
            </a:r>
          </a:p>
          <a:p>
            <a:pPr marL="171450" lvl="0" indent="-171450">
              <a:buFontTx/>
              <a:buChar char="-"/>
            </a:pPr>
            <a:r>
              <a:rPr lang="en-US" baseline="0" dirty="0" smtClean="0"/>
              <a:t>So the id attribute is completely optional but if you do choose to use it, each id must be unique on a given page</a:t>
            </a:r>
          </a:p>
          <a:p>
            <a:pPr marL="171450" lvl="0" indent="-171450">
              <a:buFontTx/>
              <a:buChar char="-"/>
            </a:pPr>
            <a:r>
              <a:rPr lang="en-US" baseline="0" dirty="0" smtClean="0"/>
              <a:t>Similar to the id is the name attribute which is typically used on the server side to process form data</a:t>
            </a:r>
          </a:p>
          <a:p>
            <a:pPr marL="628650" lvl="1" indent="-171450">
              <a:buFontTx/>
              <a:buChar char="-"/>
            </a:pPr>
            <a:r>
              <a:rPr lang="en-US" baseline="0" dirty="0" smtClean="0"/>
              <a:t>I’ll discuss this one in more details when we get to the lesson on creating forms</a:t>
            </a:r>
          </a:p>
          <a:p>
            <a:pPr marL="628650" lvl="1" indent="-171450">
              <a:buFontTx/>
              <a:buChar char="-"/>
            </a:pPr>
            <a:r>
              <a:rPr lang="en-US" baseline="0" dirty="0" smtClean="0"/>
              <a:t>It’s similar in purpose but typically used by our server-side code logic to retrieve our user-submitted value</a:t>
            </a:r>
          </a:p>
          <a:p>
            <a:pPr marL="171450" lvl="0" indent="-171450">
              <a:buFontTx/>
              <a:buChar char="-"/>
            </a:pPr>
            <a:r>
              <a:rPr lang="en-US" baseline="0" dirty="0" smtClean="0"/>
              <a:t>We’ll get back to all of this later and eventually this will all sink in as we begin using them</a:t>
            </a:r>
          </a:p>
          <a:p>
            <a:pPr marL="171450" lvl="0" indent="-171450">
              <a:buFontTx/>
              <a:buChar char="-"/>
            </a:pPr>
            <a:r>
              <a:rPr lang="en-US" baseline="0" dirty="0" smtClean="0"/>
              <a:t>So there are best practices for naming your classes (next slide)</a:t>
            </a:r>
          </a:p>
        </p:txBody>
      </p:sp>
      <p:sp>
        <p:nvSpPr>
          <p:cNvPr id="4" name="Slide Number Placeholder 3"/>
          <p:cNvSpPr>
            <a:spLocks noGrp="1"/>
          </p:cNvSpPr>
          <p:nvPr>
            <p:ph type="sldNum" sz="quarter" idx="10"/>
          </p:nvPr>
        </p:nvSpPr>
        <p:spPr/>
        <p:txBody>
          <a:bodyPr/>
          <a:lstStyle/>
          <a:p>
            <a:fld id="{ECC2BECD-94F6-4B6C-BEEC-DD1D48975E94}" type="slidenum">
              <a:rPr lang="en-US" smtClean="0"/>
              <a:t>12</a:t>
            </a:fld>
            <a:endParaRPr lang="en-US"/>
          </a:p>
        </p:txBody>
      </p:sp>
    </p:spTree>
    <p:extLst>
      <p:ext uri="{BB962C8B-B14F-4D97-AF65-F5344CB8AC3E}">
        <p14:creationId xmlns:p14="http://schemas.microsoft.com/office/powerpoint/2010/main" val="138610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smtClean="0"/>
              <a:t>So it’s a good idea to keep class names semantically correct</a:t>
            </a:r>
          </a:p>
          <a:p>
            <a:pPr marL="171450" indent="-171450">
              <a:buFontTx/>
              <a:buChar char="-"/>
            </a:pPr>
            <a:endParaRPr lang="en-US" baseline="0" dirty="0" smtClean="0"/>
          </a:p>
          <a:p>
            <a:pPr marL="171450" indent="-171450">
              <a:buFontTx/>
              <a:buChar char="-"/>
            </a:pPr>
            <a:r>
              <a:rPr lang="en-US" baseline="0" dirty="0" smtClean="0"/>
              <a:t>You may be tempted to name a class “red text” and then in your stylesheet create a style that sets the color of the font to be red</a:t>
            </a:r>
          </a:p>
          <a:p>
            <a:pPr marL="171450" indent="-171450">
              <a:buFontTx/>
              <a:buChar char="-"/>
            </a:pPr>
            <a:r>
              <a:rPr lang="en-US" baseline="0" dirty="0" smtClean="0"/>
              <a:t>But a better idea would be to call it something like “important message” then style it with a red font, if you wish</a:t>
            </a:r>
          </a:p>
          <a:p>
            <a:pPr marL="171450" indent="-171450">
              <a:buFontTx/>
              <a:buChar char="-"/>
            </a:pPr>
            <a:endParaRPr lang="en-US" baseline="0" dirty="0" smtClean="0"/>
          </a:p>
          <a:p>
            <a:pPr marL="171450" indent="-171450">
              <a:buFontTx/>
              <a:buChar char="-"/>
            </a:pPr>
            <a:r>
              <a:rPr lang="en-US" baseline="0" dirty="0" smtClean="0"/>
              <a:t>Now let’s step away from HTML &lt;tags&gt; and CSS attributes and let’s take a look at a webpage and see if we can identify parts of it</a:t>
            </a:r>
          </a:p>
          <a:p>
            <a:pPr marL="171450" indent="-171450">
              <a:buFontTx/>
              <a:buChar char="-"/>
            </a:pPr>
            <a:endParaRPr lang="en-US" baseline="0" dirty="0" smtClean="0"/>
          </a:p>
          <a:p>
            <a:pPr marL="171450" indent="-171450">
              <a:buFontTx/>
              <a:buChar char="-"/>
            </a:pPr>
            <a:r>
              <a:rPr lang="en-US" baseline="0" dirty="0" smtClean="0"/>
              <a:t>(Discuss using templates as a web developer)</a:t>
            </a:r>
          </a:p>
          <a:p>
            <a:pPr marL="628650" lvl="1" indent="-171450">
              <a:buFontTx/>
              <a:buChar char="-"/>
            </a:pPr>
            <a:r>
              <a:rPr lang="en-US" baseline="0" dirty="0" smtClean="0"/>
              <a:t>Google search: free web design templates</a:t>
            </a:r>
          </a:p>
          <a:p>
            <a:pPr marL="628650" lvl="1" indent="-171450">
              <a:buFontTx/>
              <a:buChar char="-"/>
            </a:pPr>
            <a:r>
              <a:rPr lang="en-US" baseline="0" dirty="0" smtClean="0"/>
              <a:t>(opendesigns.org)</a:t>
            </a:r>
          </a:p>
        </p:txBody>
      </p:sp>
      <p:sp>
        <p:nvSpPr>
          <p:cNvPr id="4" name="Slide Number Placeholder 3"/>
          <p:cNvSpPr>
            <a:spLocks noGrp="1"/>
          </p:cNvSpPr>
          <p:nvPr>
            <p:ph type="sldNum" sz="quarter" idx="10"/>
          </p:nvPr>
        </p:nvSpPr>
        <p:spPr/>
        <p:txBody>
          <a:bodyPr/>
          <a:lstStyle/>
          <a:p>
            <a:fld id="{ECC2BECD-94F6-4B6C-BEEC-DD1D48975E94}" type="slidenum">
              <a:rPr lang="en-US" smtClean="0"/>
              <a:t>13</a:t>
            </a:fld>
            <a:endParaRPr lang="en-US"/>
          </a:p>
        </p:txBody>
      </p:sp>
    </p:spTree>
    <p:extLst>
      <p:ext uri="{BB962C8B-B14F-4D97-AF65-F5344CB8AC3E}">
        <p14:creationId xmlns:p14="http://schemas.microsoft.com/office/powerpoint/2010/main" val="575382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1/14/2016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1/14/2016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1/14/2016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w3.org/TR/html5-author/"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HTML5 and CSS3 Fundamentals</a:t>
            </a:r>
            <a:endParaRPr lang="en-US" dirty="0"/>
          </a:p>
        </p:txBody>
      </p:sp>
      <p:sp>
        <p:nvSpPr>
          <p:cNvPr id="3" name="Subtitle 2"/>
          <p:cNvSpPr>
            <a:spLocks noGrp="1"/>
          </p:cNvSpPr>
          <p:nvPr>
            <p:ph type="subTitle" idx="1"/>
          </p:nvPr>
        </p:nvSpPr>
        <p:spPr/>
        <p:txBody>
          <a:bodyPr>
            <a:normAutofit/>
          </a:bodyPr>
          <a:lstStyle/>
          <a:p>
            <a:r>
              <a:rPr lang="en-US" sz="2000" dirty="0" smtClean="0"/>
              <a:t>Claim Academy</a:t>
            </a:r>
            <a:endParaRPr lang="en-US" sz="2000" dirty="0"/>
          </a:p>
        </p:txBody>
      </p:sp>
    </p:spTree>
    <p:extLst>
      <p:ext uri="{BB962C8B-B14F-4D97-AF65-F5344CB8AC3E}">
        <p14:creationId xmlns:p14="http://schemas.microsoft.com/office/powerpoint/2010/main" val="2871461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Syntax Styles</a:t>
            </a:r>
            <a:endParaRPr lang="en-US" sz="4000" dirty="0"/>
          </a:p>
        </p:txBody>
      </p:sp>
      <p:sp>
        <p:nvSpPr>
          <p:cNvPr id="3" name="Content Placeholder 2"/>
          <p:cNvSpPr>
            <a:spLocks noGrp="1"/>
          </p:cNvSpPr>
          <p:nvPr>
            <p:ph idx="1"/>
          </p:nvPr>
        </p:nvSpPr>
        <p:spPr/>
        <p:txBody>
          <a:bodyPr>
            <a:normAutofit/>
          </a:bodyPr>
          <a:lstStyle/>
          <a:p>
            <a:r>
              <a:rPr lang="en-US" sz="2800" dirty="0" smtClean="0"/>
              <a:t>&lt;span&gt;… or … &lt;SPAN&gt;</a:t>
            </a:r>
          </a:p>
          <a:p>
            <a:r>
              <a:rPr lang="en-US" sz="2800" dirty="0" smtClean="0"/>
              <a:t>&lt;div class=“important”&gt;… or </a:t>
            </a:r>
            <a:r>
              <a:rPr lang="en-US" sz="2800" dirty="0" smtClean="0"/>
              <a:t>…</a:t>
            </a:r>
          </a:p>
          <a:p>
            <a:pPr marL="914400" lvl="2" indent="0">
              <a:buNone/>
            </a:pPr>
            <a:r>
              <a:rPr lang="en-US" sz="2800" dirty="0" smtClean="0"/>
              <a:t>&lt;</a:t>
            </a:r>
            <a:r>
              <a:rPr lang="en-US" sz="2800" dirty="0" smtClean="0"/>
              <a:t>div class=important&gt;</a:t>
            </a:r>
          </a:p>
          <a:p>
            <a:r>
              <a:rPr lang="en-US" sz="2800" dirty="0" smtClean="0"/>
              <a:t>&lt;td&gt;… or &lt;td&gt;&lt;/td&gt;</a:t>
            </a:r>
          </a:p>
          <a:p>
            <a:r>
              <a:rPr lang="en-US" sz="2800" dirty="0" smtClean="0"/>
              <a:t>&lt;</a:t>
            </a:r>
            <a:r>
              <a:rPr lang="en-US" sz="2800" dirty="0" err="1" smtClean="0"/>
              <a:t>br</a:t>
            </a:r>
            <a:r>
              <a:rPr lang="en-US" sz="2800" dirty="0" smtClean="0"/>
              <a:t>&gt; … or &lt;</a:t>
            </a:r>
            <a:r>
              <a:rPr lang="en-US" sz="2800" dirty="0" err="1" smtClean="0"/>
              <a:t>br</a:t>
            </a:r>
            <a:r>
              <a:rPr lang="en-US" sz="2800" dirty="0"/>
              <a:t> </a:t>
            </a:r>
            <a:r>
              <a:rPr lang="en-US" sz="2800" dirty="0" smtClean="0"/>
              <a:t>/&gt;</a:t>
            </a:r>
            <a:endParaRPr lang="en-US" sz="2800" dirty="0"/>
          </a:p>
        </p:txBody>
      </p:sp>
    </p:spTree>
    <p:extLst>
      <p:ext uri="{BB962C8B-B14F-4D97-AF65-F5344CB8AC3E}">
        <p14:creationId xmlns:p14="http://schemas.microsoft.com/office/powerpoint/2010/main" val="2053374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Meta Tags</a:t>
            </a:r>
            <a:endParaRPr lang="en-US" sz="4000" dirty="0"/>
          </a:p>
        </p:txBody>
      </p:sp>
      <p:sp>
        <p:nvSpPr>
          <p:cNvPr id="3" name="Content Placeholder 2"/>
          <p:cNvSpPr>
            <a:spLocks noGrp="1"/>
          </p:cNvSpPr>
          <p:nvPr>
            <p:ph idx="1"/>
          </p:nvPr>
        </p:nvSpPr>
        <p:spPr/>
        <p:txBody>
          <a:bodyPr>
            <a:normAutofit/>
          </a:bodyPr>
          <a:lstStyle/>
          <a:p>
            <a:r>
              <a:rPr lang="en-US" sz="2400" dirty="0" smtClean="0"/>
              <a:t>&lt;meta name=“description” content=“Front-End Web Development course at Claim Academy” /&gt;</a:t>
            </a:r>
          </a:p>
          <a:p>
            <a:r>
              <a:rPr lang="en-US" sz="2400" dirty="0" smtClean="0"/>
              <a:t>&lt;meta name=“keywords” content=“HTML5, CSS3, HTML” /&gt;</a:t>
            </a:r>
          </a:p>
          <a:p>
            <a:r>
              <a:rPr lang="en-US" sz="2400" dirty="0" smtClean="0"/>
              <a:t>&lt;meta name=“author” content=“Rob Cabardo” /&gt;</a:t>
            </a:r>
          </a:p>
          <a:p>
            <a:r>
              <a:rPr lang="en-US" sz="2400" dirty="0" smtClean="0"/>
              <a:t>&lt;meta name=“revised” content=“Rob Cabardo, 01/14/2016” /&gt;</a:t>
            </a:r>
          </a:p>
          <a:p>
            <a:r>
              <a:rPr lang="en-US" sz="2400" dirty="0" smtClean="0"/>
              <a:t>&lt;meta http-</a:t>
            </a:r>
            <a:r>
              <a:rPr lang="en-US" sz="2400" dirty="0" err="1" smtClean="0"/>
              <a:t>equiv</a:t>
            </a:r>
            <a:r>
              <a:rPr lang="en-US" sz="2400" dirty="0" smtClean="0"/>
              <a:t>=“refresh” content=“60” /&gt;</a:t>
            </a:r>
            <a:endParaRPr lang="en-US" sz="2400" dirty="0"/>
          </a:p>
        </p:txBody>
      </p:sp>
    </p:spTree>
    <p:extLst>
      <p:ext uri="{BB962C8B-B14F-4D97-AF65-F5344CB8AC3E}">
        <p14:creationId xmlns:p14="http://schemas.microsoft.com/office/powerpoint/2010/main" val="2547082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Supporting HTML5 in older browsers</a:t>
            </a:r>
            <a:endParaRPr lang="en-US" sz="4000" dirty="0"/>
          </a:p>
        </p:txBody>
      </p:sp>
      <p:sp>
        <p:nvSpPr>
          <p:cNvPr id="3" name="Content Placeholder 2"/>
          <p:cNvSpPr>
            <a:spLocks noGrp="1"/>
          </p:cNvSpPr>
          <p:nvPr>
            <p:ph idx="1"/>
          </p:nvPr>
        </p:nvSpPr>
        <p:spPr/>
        <p:txBody>
          <a:bodyPr>
            <a:normAutofit/>
          </a:bodyPr>
          <a:lstStyle/>
          <a:p>
            <a:r>
              <a:rPr lang="en-US" sz="2800" dirty="0" smtClean="0"/>
              <a:t>HTML5shim</a:t>
            </a:r>
          </a:p>
          <a:p>
            <a:r>
              <a:rPr lang="en-US" sz="2800" dirty="0" smtClean="0"/>
              <a:t>http://caniuse.com</a:t>
            </a:r>
            <a:endParaRPr lang="en-US" sz="2800" dirty="0"/>
          </a:p>
        </p:txBody>
      </p:sp>
    </p:spTree>
    <p:extLst>
      <p:ext uri="{BB962C8B-B14F-4D97-AF65-F5344CB8AC3E}">
        <p14:creationId xmlns:p14="http://schemas.microsoft.com/office/powerpoint/2010/main" val="2100907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Working with Paragraphs and Texts</a:t>
            </a:r>
            <a:endParaRPr lang="en-US" dirty="0"/>
          </a:p>
        </p:txBody>
      </p:sp>
      <p:sp>
        <p:nvSpPr>
          <p:cNvPr id="3" name="Subtitle 2"/>
          <p:cNvSpPr>
            <a:spLocks noGrp="1"/>
          </p:cNvSpPr>
          <p:nvPr>
            <p:ph type="subTitle" idx="1"/>
          </p:nvPr>
        </p:nvSpPr>
        <p:spPr/>
        <p:txBody>
          <a:bodyPr>
            <a:normAutofit/>
          </a:bodyPr>
          <a:lstStyle/>
          <a:p>
            <a:r>
              <a:rPr lang="en-US" sz="2000" dirty="0" smtClean="0"/>
              <a:t>Claim Academy</a:t>
            </a:r>
            <a:endParaRPr lang="en-US" sz="2000" dirty="0"/>
          </a:p>
        </p:txBody>
      </p:sp>
    </p:spTree>
    <p:extLst>
      <p:ext uri="{BB962C8B-B14F-4D97-AF65-F5344CB8AC3E}">
        <p14:creationId xmlns:p14="http://schemas.microsoft.com/office/powerpoint/2010/main" val="3828081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is meant when we use a &lt;p&gt; tag?</a:t>
            </a:r>
            <a:endParaRPr lang="en-US" dirty="0"/>
          </a:p>
        </p:txBody>
      </p:sp>
      <p:sp>
        <p:nvSpPr>
          <p:cNvPr id="3" name="Content Placeholder 2"/>
          <p:cNvSpPr>
            <a:spLocks noGrp="1"/>
          </p:cNvSpPr>
          <p:nvPr>
            <p:ph idx="1"/>
          </p:nvPr>
        </p:nvSpPr>
        <p:spPr/>
        <p:txBody>
          <a:bodyPr/>
          <a:lstStyle/>
          <a:p>
            <a:r>
              <a:rPr lang="en-US" sz="2000" dirty="0" smtClean="0"/>
              <a:t>A </a:t>
            </a:r>
            <a:r>
              <a:rPr lang="en-US" sz="2000" b="1" dirty="0" smtClean="0"/>
              <a:t>paragraph</a:t>
            </a:r>
            <a:r>
              <a:rPr lang="en-US" sz="2000" dirty="0" smtClean="0"/>
              <a:t> is typically a run of phrasing content that forms a block of text with one or more sentences that discuss a particular topic, as in typography, but can also be used for more general thematic grouping. For instance, an address is also a paragraph, as is a part of a form, a byline, or a stanza in a poem</a:t>
            </a:r>
          </a:p>
          <a:p>
            <a:pPr marL="0" indent="0">
              <a:buNone/>
            </a:pPr>
            <a:r>
              <a:rPr lang="en-US" sz="2000" dirty="0"/>
              <a:t> </a:t>
            </a:r>
            <a:r>
              <a:rPr lang="en-US" sz="2000" dirty="0" smtClean="0"/>
              <a:t>    From </a:t>
            </a:r>
            <a:r>
              <a:rPr lang="en-US" sz="2000" i="1" dirty="0" smtClean="0">
                <a:hlinkClick r:id="rId3"/>
              </a:rPr>
              <a:t>w3.org</a:t>
            </a:r>
            <a:r>
              <a:rPr lang="en-US" sz="2000" i="1" dirty="0" smtClean="0"/>
              <a:t> (</a:t>
            </a:r>
            <a:r>
              <a:rPr lang="en-US" sz="2000" i="1" dirty="0"/>
              <a:t>The World Wide Web Consortium is the main </a:t>
            </a:r>
            <a:r>
              <a:rPr lang="en-US" sz="2000" i="1" dirty="0" smtClean="0"/>
              <a:t>international standards </a:t>
            </a:r>
            <a:r>
              <a:rPr lang="en-US" sz="2000" i="1" dirty="0"/>
              <a:t>organization for the World Wide Web</a:t>
            </a:r>
            <a:r>
              <a:rPr lang="en-US" sz="2000" i="1" dirty="0" smtClean="0"/>
              <a:t>.)</a:t>
            </a:r>
          </a:p>
          <a:p>
            <a:pPr marL="0" indent="0">
              <a:buNone/>
            </a:pPr>
            <a:endParaRPr lang="en-US" i="1" dirty="0" smtClean="0"/>
          </a:p>
        </p:txBody>
      </p:sp>
    </p:spTree>
    <p:extLst>
      <p:ext uri="{BB962C8B-B14F-4D97-AF65-F5344CB8AC3E}">
        <p14:creationId xmlns:p14="http://schemas.microsoft.com/office/powerpoint/2010/main" val="4267067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Other Elements</a:t>
            </a:r>
            <a:endParaRPr lang="en-US" sz="4000" dirty="0"/>
          </a:p>
        </p:txBody>
      </p:sp>
      <p:sp>
        <p:nvSpPr>
          <p:cNvPr id="3" name="Content Placeholder 2"/>
          <p:cNvSpPr>
            <a:spLocks noGrp="1"/>
          </p:cNvSpPr>
          <p:nvPr>
            <p:ph idx="1"/>
          </p:nvPr>
        </p:nvSpPr>
        <p:spPr>
          <a:xfrm>
            <a:off x="677334" y="1587500"/>
            <a:ext cx="8596668" cy="4991099"/>
          </a:xfrm>
        </p:spPr>
        <p:txBody>
          <a:bodyPr>
            <a:normAutofit/>
          </a:bodyPr>
          <a:lstStyle/>
          <a:p>
            <a:r>
              <a:rPr lang="en-US" sz="2000" dirty="0" smtClean="0"/>
              <a:t>&lt;</a:t>
            </a:r>
            <a:r>
              <a:rPr lang="en-US" sz="2000" dirty="0" err="1" smtClean="0"/>
              <a:t>br</a:t>
            </a:r>
            <a:r>
              <a:rPr lang="en-US" sz="2000" dirty="0" smtClean="0"/>
              <a:t>&gt; element</a:t>
            </a:r>
          </a:p>
          <a:p>
            <a:pPr lvl="1"/>
            <a:r>
              <a:rPr lang="en-US" sz="1800" dirty="0" smtClean="0"/>
              <a:t>Represents a line break</a:t>
            </a:r>
          </a:p>
          <a:p>
            <a:r>
              <a:rPr lang="en-US" sz="2000" dirty="0" smtClean="0"/>
              <a:t>&lt;strong&gt; element</a:t>
            </a:r>
          </a:p>
          <a:p>
            <a:pPr lvl="1"/>
            <a:r>
              <a:rPr lang="en-US" sz="1800" dirty="0"/>
              <a:t>Represents strong importance for its contents</a:t>
            </a:r>
          </a:p>
          <a:p>
            <a:r>
              <a:rPr lang="en-US" sz="2000" dirty="0" smtClean="0"/>
              <a:t>&lt;b&gt; element</a:t>
            </a:r>
          </a:p>
          <a:p>
            <a:pPr lvl="1"/>
            <a:r>
              <a:rPr lang="en-US" sz="1800" dirty="0" smtClean="0"/>
              <a:t>Represents a span of text to which attention is being drawn to</a:t>
            </a:r>
          </a:p>
          <a:p>
            <a:r>
              <a:rPr lang="en-US" sz="2000" dirty="0" smtClean="0"/>
              <a:t>&lt;</a:t>
            </a:r>
            <a:r>
              <a:rPr lang="en-US" sz="2000" dirty="0" err="1" smtClean="0"/>
              <a:t>i</a:t>
            </a:r>
            <a:r>
              <a:rPr lang="en-US" sz="2000" dirty="0" smtClean="0"/>
              <a:t>&gt; element</a:t>
            </a:r>
          </a:p>
          <a:p>
            <a:pPr lvl="1"/>
            <a:r>
              <a:rPr lang="en-US" sz="1800" dirty="0" smtClean="0"/>
              <a:t>Represents a span of text in an alternate voice or mood</a:t>
            </a:r>
          </a:p>
          <a:p>
            <a:r>
              <a:rPr lang="en-US" sz="2000" dirty="0" smtClean="0"/>
              <a:t>&lt;u&gt; element</a:t>
            </a:r>
          </a:p>
          <a:p>
            <a:pPr lvl="1"/>
            <a:r>
              <a:rPr lang="en-US" sz="1800" dirty="0" smtClean="0"/>
              <a:t>Represents a span of text with an unarticulated non-textual annotation</a:t>
            </a:r>
          </a:p>
          <a:p>
            <a:r>
              <a:rPr lang="en-US" sz="2000" dirty="0" smtClean="0"/>
              <a:t>&lt;small&gt; element</a:t>
            </a:r>
          </a:p>
          <a:p>
            <a:pPr lvl="1"/>
            <a:r>
              <a:rPr lang="en-US" sz="1800" dirty="0" smtClean="0"/>
              <a:t>Represents side comments such as small print</a:t>
            </a:r>
          </a:p>
        </p:txBody>
      </p:sp>
    </p:spTree>
    <p:extLst>
      <p:ext uri="{BB962C8B-B14F-4D97-AF65-F5344CB8AC3E}">
        <p14:creationId xmlns:p14="http://schemas.microsoft.com/office/powerpoint/2010/main" val="4174060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And more elements…</a:t>
            </a:r>
            <a:endParaRPr lang="en-US" sz="4000" dirty="0"/>
          </a:p>
        </p:txBody>
      </p:sp>
      <p:sp>
        <p:nvSpPr>
          <p:cNvPr id="3" name="Content Placeholder 2"/>
          <p:cNvSpPr>
            <a:spLocks noGrp="1"/>
          </p:cNvSpPr>
          <p:nvPr>
            <p:ph idx="1"/>
          </p:nvPr>
        </p:nvSpPr>
        <p:spPr>
          <a:xfrm>
            <a:off x="677334" y="1778001"/>
            <a:ext cx="8596668" cy="4724400"/>
          </a:xfrm>
        </p:spPr>
        <p:txBody>
          <a:bodyPr>
            <a:normAutofit/>
          </a:bodyPr>
          <a:lstStyle/>
          <a:p>
            <a:r>
              <a:rPr lang="en-US" sz="2000" dirty="0" smtClean="0"/>
              <a:t>&lt;s&gt; element</a:t>
            </a:r>
          </a:p>
          <a:p>
            <a:pPr lvl="1"/>
            <a:r>
              <a:rPr lang="en-US" sz="1800" dirty="0" smtClean="0"/>
              <a:t>Represents contents that are no longer accurate or no longer relevant</a:t>
            </a:r>
          </a:p>
          <a:p>
            <a:r>
              <a:rPr lang="en-US" sz="2000" dirty="0" smtClean="0"/>
              <a:t>&lt;del&gt; element</a:t>
            </a:r>
          </a:p>
          <a:p>
            <a:pPr lvl="1"/>
            <a:r>
              <a:rPr lang="en-US" sz="1800" dirty="0" smtClean="0"/>
              <a:t>Represents a removal from the document</a:t>
            </a:r>
          </a:p>
          <a:p>
            <a:r>
              <a:rPr lang="en-US" sz="2000" dirty="0" smtClean="0"/>
              <a:t>&lt;cite&gt; element</a:t>
            </a:r>
          </a:p>
          <a:p>
            <a:pPr lvl="1"/>
            <a:r>
              <a:rPr lang="en-US" sz="1800" dirty="0" smtClean="0"/>
              <a:t>Represents the title of a work that is being quoted</a:t>
            </a:r>
          </a:p>
          <a:p>
            <a:r>
              <a:rPr lang="en-US" sz="2000" dirty="0" smtClean="0"/>
              <a:t>&lt;</a:t>
            </a:r>
            <a:r>
              <a:rPr lang="en-US" sz="2000" dirty="0" err="1" smtClean="0"/>
              <a:t>blockquote</a:t>
            </a:r>
            <a:r>
              <a:rPr lang="en-US" sz="2000" dirty="0" smtClean="0"/>
              <a:t>&gt; element</a:t>
            </a:r>
          </a:p>
          <a:p>
            <a:pPr lvl="1"/>
            <a:r>
              <a:rPr lang="en-US" sz="1800" dirty="0" smtClean="0"/>
              <a:t>Represents a section that is quoted from another source</a:t>
            </a:r>
          </a:p>
          <a:p>
            <a:r>
              <a:rPr lang="en-US" sz="2000" dirty="0" smtClean="0"/>
              <a:t>&lt;code&gt; element</a:t>
            </a:r>
          </a:p>
          <a:p>
            <a:pPr lvl="1"/>
            <a:r>
              <a:rPr lang="en-US" sz="1800" dirty="0" smtClean="0"/>
              <a:t>Represents a fragment of computer code</a:t>
            </a:r>
            <a:endParaRPr lang="en-US" sz="1800" dirty="0"/>
          </a:p>
        </p:txBody>
      </p:sp>
    </p:spTree>
    <p:extLst>
      <p:ext uri="{BB962C8B-B14F-4D97-AF65-F5344CB8AC3E}">
        <p14:creationId xmlns:p14="http://schemas.microsoft.com/office/powerpoint/2010/main" val="394684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The &lt;a&gt; anchor tag</a:t>
            </a:r>
            <a:endParaRPr lang="en-US" sz="4000" dirty="0"/>
          </a:p>
        </p:txBody>
      </p:sp>
      <p:sp>
        <p:nvSpPr>
          <p:cNvPr id="3" name="Content Placeholder 2"/>
          <p:cNvSpPr>
            <a:spLocks noGrp="1"/>
          </p:cNvSpPr>
          <p:nvPr>
            <p:ph idx="1"/>
          </p:nvPr>
        </p:nvSpPr>
        <p:spPr/>
        <p:txBody>
          <a:bodyPr>
            <a:normAutofit/>
          </a:bodyPr>
          <a:lstStyle/>
          <a:p>
            <a:r>
              <a:rPr lang="en-US" sz="2000" dirty="0" smtClean="0"/>
              <a:t>Used to create hyperlinks in your document</a:t>
            </a:r>
            <a:endParaRPr lang="en-US" sz="2000" dirty="0"/>
          </a:p>
        </p:txBody>
      </p:sp>
    </p:spTree>
    <p:extLst>
      <p:ext uri="{BB962C8B-B14F-4D97-AF65-F5344CB8AC3E}">
        <p14:creationId xmlns:p14="http://schemas.microsoft.com/office/powerpoint/2010/main" val="3129464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Relative Paths</a:t>
            </a:r>
            <a:endParaRPr lang="en-US" sz="4000" dirty="0"/>
          </a:p>
        </p:txBody>
      </p:sp>
      <p:sp>
        <p:nvSpPr>
          <p:cNvPr id="3" name="Content Placeholder 2"/>
          <p:cNvSpPr>
            <a:spLocks noGrp="1"/>
          </p:cNvSpPr>
          <p:nvPr>
            <p:ph idx="1"/>
          </p:nvPr>
        </p:nvSpPr>
        <p:spPr/>
        <p:txBody>
          <a:bodyPr>
            <a:normAutofit/>
          </a:bodyPr>
          <a:lstStyle/>
          <a:p>
            <a:r>
              <a:rPr lang="en-US" sz="2000" dirty="0"/>
              <a:t>a</a:t>
            </a:r>
            <a:r>
              <a:rPr lang="en-US" sz="2000" dirty="0" smtClean="0"/>
              <a:t>.gif </a:t>
            </a:r>
            <a:r>
              <a:rPr lang="en-US" sz="2000" dirty="0" smtClean="0">
                <a:sym typeface="Wingdings" panose="05000000000000000000" pitchFamily="2" charset="2"/>
              </a:rPr>
              <a:t> same directory</a:t>
            </a:r>
          </a:p>
          <a:p>
            <a:r>
              <a:rPr lang="en-US" sz="2000" dirty="0" smtClean="0"/>
              <a:t>../a.gif </a:t>
            </a:r>
            <a:r>
              <a:rPr lang="en-US" sz="2000" dirty="0" smtClean="0">
                <a:sym typeface="Wingdings" panose="05000000000000000000" pitchFamily="2" charset="2"/>
              </a:rPr>
              <a:t> parent directory</a:t>
            </a:r>
          </a:p>
          <a:p>
            <a:r>
              <a:rPr lang="en-US" sz="2000" dirty="0" smtClean="0">
                <a:sym typeface="Wingdings" panose="05000000000000000000" pitchFamily="2" charset="2"/>
              </a:rPr>
              <a:t>Image/a.gif  sub directory called images</a:t>
            </a:r>
          </a:p>
          <a:p>
            <a:r>
              <a:rPr lang="en-US" sz="2000" dirty="0" smtClean="0">
                <a:sym typeface="Wingdings" panose="05000000000000000000" pitchFamily="2" charset="2"/>
              </a:rPr>
              <a:t>../images/a.gif  parent directory’s images folder</a:t>
            </a:r>
          </a:p>
          <a:p>
            <a:r>
              <a:rPr lang="en-US" sz="2000" dirty="0" smtClean="0">
                <a:sym typeface="Wingdings" panose="05000000000000000000" pitchFamily="2" charset="2"/>
              </a:rPr>
              <a:t>../../images/a.gif  parent’s parent directory’s images folder</a:t>
            </a:r>
            <a:endParaRPr lang="en-US" sz="2000" dirty="0"/>
          </a:p>
        </p:txBody>
      </p:sp>
    </p:spTree>
    <p:extLst>
      <p:ext uri="{BB962C8B-B14F-4D97-AF65-F5344CB8AC3E}">
        <p14:creationId xmlns:p14="http://schemas.microsoft.com/office/powerpoint/2010/main" val="2319665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&lt;span&gt; element</a:t>
            </a:r>
            <a:endParaRPr lang="en-US" dirty="0"/>
          </a:p>
        </p:txBody>
      </p:sp>
      <p:sp>
        <p:nvSpPr>
          <p:cNvPr id="3" name="Content Placeholder 2"/>
          <p:cNvSpPr>
            <a:spLocks noGrp="1"/>
          </p:cNvSpPr>
          <p:nvPr>
            <p:ph idx="1"/>
          </p:nvPr>
        </p:nvSpPr>
        <p:spPr>
          <a:xfrm>
            <a:off x="829734" y="4752977"/>
            <a:ext cx="8596668" cy="1662111"/>
          </a:xfrm>
        </p:spPr>
        <p:txBody>
          <a:bodyPr/>
          <a:lstStyle/>
          <a:p>
            <a:r>
              <a:rPr lang="en-US" dirty="0" smtClean="0"/>
              <a:t>Specifies one or more </a:t>
            </a:r>
            <a:r>
              <a:rPr lang="en-US" dirty="0" err="1" smtClean="0"/>
              <a:t>classnames</a:t>
            </a:r>
            <a:r>
              <a:rPr lang="en-US" dirty="0" smtClean="0"/>
              <a:t> for an element</a:t>
            </a:r>
          </a:p>
          <a:p>
            <a:r>
              <a:rPr lang="en-US" dirty="0" smtClean="0"/>
              <a:t>It is mostly used to point to a class in a style sheet</a:t>
            </a:r>
          </a:p>
          <a:p>
            <a:r>
              <a:rPr lang="en-US" dirty="0" smtClean="0"/>
              <a:t>However, it can also be used by a JavaScript to make changes to HTML elements with a specified class</a:t>
            </a:r>
          </a:p>
        </p:txBody>
      </p:sp>
      <p:sp>
        <p:nvSpPr>
          <p:cNvPr id="4" name="Title 1"/>
          <p:cNvSpPr txBox="1">
            <a:spLocks/>
          </p:cNvSpPr>
          <p:nvPr/>
        </p:nvSpPr>
        <p:spPr>
          <a:xfrm>
            <a:off x="677334" y="3775077"/>
            <a:ext cx="8596668" cy="9779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And the ‘class’ attribute</a:t>
            </a:r>
            <a:endParaRPr lang="en-US" dirty="0"/>
          </a:p>
        </p:txBody>
      </p:sp>
      <p:sp>
        <p:nvSpPr>
          <p:cNvPr id="5" name="Content Placeholder 2"/>
          <p:cNvSpPr txBox="1">
            <a:spLocks/>
          </p:cNvSpPr>
          <p:nvPr/>
        </p:nvSpPr>
        <p:spPr>
          <a:xfrm>
            <a:off x="829734" y="1850233"/>
            <a:ext cx="8596668" cy="166211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smtClean="0"/>
              <a:t>The &lt;span&gt; element doesn’t mean anything on its own, but can be useful when used together with the global attributes</a:t>
            </a:r>
          </a:p>
          <a:p>
            <a:pPr lvl="1"/>
            <a:r>
              <a:rPr lang="en-US" dirty="0" smtClean="0"/>
              <a:t>e.g. class, </a:t>
            </a:r>
            <a:r>
              <a:rPr lang="en-US" dirty="0" err="1" smtClean="0"/>
              <a:t>lang</a:t>
            </a:r>
            <a:r>
              <a:rPr lang="en-US" dirty="0" smtClean="0"/>
              <a:t>, or </a:t>
            </a:r>
            <a:r>
              <a:rPr lang="en-US" dirty="0" err="1" smtClean="0"/>
              <a:t>dir</a:t>
            </a:r>
            <a:endParaRPr lang="en-US" dirty="0" smtClean="0"/>
          </a:p>
          <a:p>
            <a:r>
              <a:rPr lang="en-US" dirty="0" smtClean="0"/>
              <a:t>It represents its children </a:t>
            </a:r>
            <a:endParaRPr lang="en-US" dirty="0"/>
          </a:p>
        </p:txBody>
      </p:sp>
    </p:spTree>
    <p:extLst>
      <p:ext uri="{BB962C8B-B14F-4D97-AF65-F5344CB8AC3E}">
        <p14:creationId xmlns:p14="http://schemas.microsoft.com/office/powerpoint/2010/main" val="3965437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Global Attributes</a:t>
            </a:r>
            <a:endParaRPr lang="en-US" sz="4000" dirty="0"/>
          </a:p>
        </p:txBody>
      </p:sp>
      <p:sp>
        <p:nvSpPr>
          <p:cNvPr id="3" name="Content Placeholder 2"/>
          <p:cNvSpPr>
            <a:spLocks noGrp="1"/>
          </p:cNvSpPr>
          <p:nvPr>
            <p:ph idx="1"/>
          </p:nvPr>
        </p:nvSpPr>
        <p:spPr/>
        <p:txBody>
          <a:bodyPr>
            <a:normAutofit/>
          </a:bodyPr>
          <a:lstStyle/>
          <a:p>
            <a:r>
              <a:rPr lang="en-US" sz="2000" dirty="0" smtClean="0"/>
              <a:t>Global Attributes can be added to virtually any HTML5 element</a:t>
            </a:r>
          </a:p>
          <a:p>
            <a:r>
              <a:rPr lang="en-US" sz="2000" dirty="0" smtClean="0"/>
              <a:t>&lt;span class=“storyline” id=“</a:t>
            </a:r>
            <a:r>
              <a:rPr lang="en-US" sz="2000" dirty="0" err="1" smtClean="0"/>
              <a:t>firstStoryHeader</a:t>
            </a:r>
            <a:r>
              <a:rPr lang="en-US" sz="2000" dirty="0" smtClean="0"/>
              <a:t>”&gt;</a:t>
            </a:r>
          </a:p>
          <a:p>
            <a:r>
              <a:rPr lang="en-US" sz="2000" dirty="0" smtClean="0"/>
              <a:t>Id attribute =&gt; provides programmatic access via JavaScript (on client)</a:t>
            </a:r>
          </a:p>
          <a:p>
            <a:r>
              <a:rPr lang="en-US" sz="2000" dirty="0" smtClean="0"/>
              <a:t>Name attribute =&gt; provides programmatic access (on the server, particularly forms)</a:t>
            </a:r>
          </a:p>
          <a:p>
            <a:r>
              <a:rPr lang="en-US" sz="2000" dirty="0" smtClean="0"/>
              <a:t>Class attribute =&gt; CSS hook for stylings</a:t>
            </a:r>
          </a:p>
        </p:txBody>
      </p:sp>
    </p:spTree>
    <p:extLst>
      <p:ext uri="{BB962C8B-B14F-4D97-AF65-F5344CB8AC3E}">
        <p14:creationId xmlns:p14="http://schemas.microsoft.com/office/powerpoint/2010/main" val="835565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Semantic Names for Classes</a:t>
            </a:r>
            <a:endParaRPr lang="en-US" sz="4000" dirty="0"/>
          </a:p>
        </p:txBody>
      </p:sp>
      <p:sp>
        <p:nvSpPr>
          <p:cNvPr id="3" name="Content Placeholder 2"/>
          <p:cNvSpPr>
            <a:spLocks noGrp="1"/>
          </p:cNvSpPr>
          <p:nvPr>
            <p:ph idx="1"/>
          </p:nvPr>
        </p:nvSpPr>
        <p:spPr/>
        <p:txBody>
          <a:bodyPr>
            <a:normAutofit/>
          </a:bodyPr>
          <a:lstStyle/>
          <a:p>
            <a:r>
              <a:rPr lang="en-US" sz="2000" dirty="0" smtClean="0"/>
              <a:t>&lt;p&gt;This is &lt;span class=“</a:t>
            </a:r>
            <a:r>
              <a:rPr lang="en-US" sz="2000" dirty="0" err="1" smtClean="0"/>
              <a:t>redText</a:t>
            </a:r>
            <a:r>
              <a:rPr lang="en-US" sz="2000" dirty="0" smtClean="0"/>
              <a:t>”&gt;important!&lt;/span&gt;&lt;/p&gt;</a:t>
            </a:r>
          </a:p>
          <a:p>
            <a:pPr marL="0" indent="0">
              <a:buNone/>
            </a:pPr>
            <a:r>
              <a:rPr lang="en-US" sz="2000" dirty="0" smtClean="0"/>
              <a:t>	</a:t>
            </a:r>
          </a:p>
          <a:p>
            <a:pPr marL="0" indent="0">
              <a:buNone/>
            </a:pPr>
            <a:r>
              <a:rPr lang="en-US" sz="2000" dirty="0"/>
              <a:t> </a:t>
            </a:r>
            <a:r>
              <a:rPr lang="en-US" sz="2000" dirty="0" smtClean="0"/>
              <a:t>     … but even better …</a:t>
            </a:r>
          </a:p>
          <a:p>
            <a:pPr marL="0" indent="0">
              <a:buNone/>
            </a:pPr>
            <a:endParaRPr lang="en-US" sz="2000" dirty="0"/>
          </a:p>
          <a:p>
            <a:r>
              <a:rPr lang="en-US" sz="2000" dirty="0" smtClean="0"/>
              <a:t>&lt;span class=“</a:t>
            </a:r>
            <a:r>
              <a:rPr lang="en-US" sz="2000" dirty="0" err="1" smtClean="0"/>
              <a:t>importantMessage</a:t>
            </a:r>
            <a:r>
              <a:rPr lang="en-US" sz="2000" dirty="0" smtClean="0"/>
              <a:t>”&gt;</a:t>
            </a:r>
          </a:p>
        </p:txBody>
      </p:sp>
    </p:spTree>
    <p:extLst>
      <p:ext uri="{BB962C8B-B14F-4D97-AF65-F5344CB8AC3E}">
        <p14:creationId xmlns:p14="http://schemas.microsoft.com/office/powerpoint/2010/main" val="47517459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510</TotalTime>
  <Words>3282</Words>
  <Application>Microsoft Office PowerPoint</Application>
  <PresentationFormat>Widescreen</PresentationFormat>
  <Paragraphs>267</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HTML5 and CSS3 Fundamentals</vt:lpstr>
      <vt:lpstr>Syntax Styles</vt:lpstr>
      <vt:lpstr>Meta Tags</vt:lpstr>
      <vt:lpstr>Supporting HTML5 in older browsers</vt:lpstr>
      <vt:lpstr>Working with Paragraphs and Texts</vt:lpstr>
      <vt:lpstr>What is meant when we use a &lt;p&gt; tag?</vt:lpstr>
      <vt:lpstr>Other Elements</vt:lpstr>
      <vt:lpstr>And more elements…</vt:lpstr>
      <vt:lpstr>The &lt;a&gt; anchor tag</vt:lpstr>
      <vt:lpstr>Relative Paths</vt:lpstr>
      <vt:lpstr>The &lt;span&gt; element</vt:lpstr>
      <vt:lpstr>Global Attributes</vt:lpstr>
      <vt:lpstr>Semantic Names for Classes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HTML5 and CSS3 Fundamentals</dc:title>
  <dc:creator>Rob Cabardo</dc:creator>
  <cp:lastModifiedBy>Rob Cabardo</cp:lastModifiedBy>
  <cp:revision>31</cp:revision>
  <dcterms:created xsi:type="dcterms:W3CDTF">2016-01-14T01:43:00Z</dcterms:created>
  <dcterms:modified xsi:type="dcterms:W3CDTF">2016-01-15T01:55:48Z</dcterms:modified>
</cp:coreProperties>
</file>